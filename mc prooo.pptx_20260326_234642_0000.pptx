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ilita One" charset="1" panose="02000000000000000000"/>
      <p:regular r:id="rId18"/>
    </p:embeddedFont>
    <p:embeddedFont>
      <p:font typeface="Malik" charset="1" panose="00000500000000000000"/>
      <p:regular r:id="rId19"/>
    </p:embeddedFont>
    <p:embeddedFont>
      <p:font typeface="Canva Sans" charset="1" panose="020B0503030501040103"/>
      <p:regular r:id="rId20"/>
    </p:embeddedFont>
    <p:embeddedFont>
      <p:font typeface="Cardo Bold" charset="1" panose="02020804080000020003"/>
      <p:regular r:id="rId21"/>
    </p:embeddedFont>
    <p:embeddedFont>
      <p:font typeface="Didact Gothic"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12" Target="../media/image19.png" Type="http://schemas.openxmlformats.org/officeDocument/2006/relationships/image"/><Relationship Id="rId13" Target="../media/image20.png" Type="http://schemas.openxmlformats.org/officeDocument/2006/relationships/image"/><Relationship Id="rId14" Target="../media/image21.png" Type="http://schemas.openxmlformats.org/officeDocument/2006/relationships/image"/><Relationship Id="rId15" Target="../media/image22.pn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https://drive.google.com/drive/folders/1fdeUivhWPnXFRrtfRbHVuol1A4JwPNR_"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504168" y="-509978"/>
            <a:ext cx="19184922" cy="11263617"/>
            <a:chOff x="0" y="0"/>
            <a:chExt cx="25579896" cy="15018156"/>
          </a:xfrm>
        </p:grpSpPr>
        <p:sp>
          <p:nvSpPr>
            <p:cNvPr name="Freeform 3" id="3"/>
            <p:cNvSpPr/>
            <p:nvPr/>
          </p:nvSpPr>
          <p:spPr>
            <a:xfrm flipH="false" flipV="false" rot="0">
              <a:off x="19561988" y="9120607"/>
              <a:ext cx="6017908" cy="5897550"/>
            </a:xfrm>
            <a:custGeom>
              <a:avLst/>
              <a:gdLst/>
              <a:ahLst/>
              <a:cxnLst/>
              <a:rect r="r" b="b" t="t" l="l"/>
              <a:pathLst>
                <a:path h="5897550" w="6017908">
                  <a:moveTo>
                    <a:pt x="0" y="0"/>
                  </a:moveTo>
                  <a:lnTo>
                    <a:pt x="6017908" y="0"/>
                  </a:lnTo>
                  <a:lnTo>
                    <a:pt x="6017908" y="5897549"/>
                  </a:lnTo>
                  <a:lnTo>
                    <a:pt x="0" y="5897549"/>
                  </a:lnTo>
                  <a:lnTo>
                    <a:pt x="0" y="0"/>
                  </a:lnTo>
                  <a:close/>
                </a:path>
              </a:pathLst>
            </a:custGeom>
            <a:blipFill>
              <a:blip r:embed="rId2">
                <a:extLst>
                  <a:ext uri="{96DAC541-7B7A-43D3-8B79-37D633B846F1}">
                    <asvg:svgBlip xmlns:asvg="http://schemas.microsoft.com/office/drawing/2016/SVG/main" r:embed="rId3"/>
                  </a:ext>
                </a:extLst>
              </a:blip>
              <a:stretch>
                <a:fillRect l="0" t="-159" r="0" b="-159"/>
              </a:stretch>
            </a:blipFill>
          </p:spPr>
        </p:sp>
        <p:sp>
          <p:nvSpPr>
            <p:cNvPr name="Freeform 4" id="4"/>
            <p:cNvSpPr/>
            <p:nvPr/>
          </p:nvSpPr>
          <p:spPr>
            <a:xfrm flipH="true" flipV="true" rot="0">
              <a:off x="0" y="0"/>
              <a:ext cx="6017908" cy="5897550"/>
            </a:xfrm>
            <a:custGeom>
              <a:avLst/>
              <a:gdLst/>
              <a:ahLst/>
              <a:cxnLst/>
              <a:rect r="r" b="b" t="t" l="l"/>
              <a:pathLst>
                <a:path h="5897550" w="6017908">
                  <a:moveTo>
                    <a:pt x="6017908" y="5897550"/>
                  </a:moveTo>
                  <a:lnTo>
                    <a:pt x="0" y="5897550"/>
                  </a:lnTo>
                  <a:lnTo>
                    <a:pt x="0" y="0"/>
                  </a:lnTo>
                  <a:lnTo>
                    <a:pt x="6017908" y="0"/>
                  </a:lnTo>
                  <a:lnTo>
                    <a:pt x="6017908" y="5897550"/>
                  </a:lnTo>
                  <a:close/>
                </a:path>
              </a:pathLst>
            </a:custGeom>
            <a:blipFill>
              <a:blip r:embed="rId2">
                <a:extLst>
                  <a:ext uri="{96DAC541-7B7A-43D3-8B79-37D633B846F1}">
                    <asvg:svgBlip xmlns:asvg="http://schemas.microsoft.com/office/drawing/2016/SVG/main" r:embed="rId3"/>
                  </a:ext>
                </a:extLst>
              </a:blip>
              <a:stretch>
                <a:fillRect l="0" t="-159" r="0" b="-159"/>
              </a:stretch>
            </a:blipFill>
          </p:spPr>
        </p:sp>
        <p:sp>
          <p:nvSpPr>
            <p:cNvPr name="Freeform 5" id="5"/>
            <p:cNvSpPr/>
            <p:nvPr/>
          </p:nvSpPr>
          <p:spPr>
            <a:xfrm flipH="false" flipV="false" rot="0">
              <a:off x="288608" y="10514635"/>
              <a:ext cx="4282084" cy="4245165"/>
            </a:xfrm>
            <a:custGeom>
              <a:avLst/>
              <a:gdLst/>
              <a:ahLst/>
              <a:cxnLst/>
              <a:rect r="r" b="b" t="t" l="l"/>
              <a:pathLst>
                <a:path h="4245165" w="4282084">
                  <a:moveTo>
                    <a:pt x="0" y="0"/>
                  </a:moveTo>
                  <a:lnTo>
                    <a:pt x="4282084" y="0"/>
                  </a:lnTo>
                  <a:lnTo>
                    <a:pt x="4282084" y="4245165"/>
                  </a:lnTo>
                  <a:lnTo>
                    <a:pt x="0" y="4245165"/>
                  </a:lnTo>
                  <a:lnTo>
                    <a:pt x="0" y="0"/>
                  </a:lnTo>
                  <a:close/>
                </a:path>
              </a:pathLst>
            </a:custGeom>
            <a:blipFill>
              <a:blip r:embed="rId4">
                <a:extLst>
                  <a:ext uri="{96DAC541-7B7A-43D3-8B79-37D633B846F1}">
                    <asvg:svgBlip xmlns:asvg="http://schemas.microsoft.com/office/drawing/2016/SVG/main" r:embed="rId5"/>
                  </a:ext>
                </a:extLst>
              </a:blip>
              <a:stretch>
                <a:fillRect l="0" t="-434" r="0" b="-434"/>
              </a:stretch>
            </a:blipFill>
          </p:spPr>
        </p:sp>
        <p:sp>
          <p:nvSpPr>
            <p:cNvPr name="Freeform 6" id="6"/>
            <p:cNvSpPr/>
            <p:nvPr/>
          </p:nvSpPr>
          <p:spPr>
            <a:xfrm flipH="false" flipV="false" rot="-10800000">
              <a:off x="21046542" y="449618"/>
              <a:ext cx="4282084" cy="4245166"/>
            </a:xfrm>
            <a:custGeom>
              <a:avLst/>
              <a:gdLst/>
              <a:ahLst/>
              <a:cxnLst/>
              <a:rect r="r" b="b" t="t" l="l"/>
              <a:pathLst>
                <a:path h="4245166" w="4282084">
                  <a:moveTo>
                    <a:pt x="0" y="0"/>
                  </a:moveTo>
                  <a:lnTo>
                    <a:pt x="4282084" y="0"/>
                  </a:lnTo>
                  <a:lnTo>
                    <a:pt x="4282084" y="4245166"/>
                  </a:lnTo>
                  <a:lnTo>
                    <a:pt x="0" y="4245166"/>
                  </a:lnTo>
                  <a:lnTo>
                    <a:pt x="0" y="0"/>
                  </a:lnTo>
                  <a:close/>
                </a:path>
              </a:pathLst>
            </a:custGeom>
            <a:blipFill>
              <a:blip r:embed="rId4">
                <a:extLst>
                  <a:ext uri="{96DAC541-7B7A-43D3-8B79-37D633B846F1}">
                    <asvg:svgBlip xmlns:asvg="http://schemas.microsoft.com/office/drawing/2016/SVG/main" r:embed="rId5"/>
                  </a:ext>
                </a:extLst>
              </a:blip>
              <a:stretch>
                <a:fillRect l="0" t="-434" r="0" b="-434"/>
              </a:stretch>
            </a:blipFill>
          </p:spPr>
        </p:sp>
        <p:sp>
          <p:nvSpPr>
            <p:cNvPr name="Freeform 7" id="7"/>
            <p:cNvSpPr/>
            <p:nvPr/>
          </p:nvSpPr>
          <p:spPr>
            <a:xfrm flipH="false" flipV="false" rot="0">
              <a:off x="259766" y="7671448"/>
              <a:ext cx="5795480" cy="5352923"/>
            </a:xfrm>
            <a:custGeom>
              <a:avLst/>
              <a:gdLst/>
              <a:ahLst/>
              <a:cxnLst/>
              <a:rect r="r" b="b" t="t" l="l"/>
              <a:pathLst>
                <a:path h="5352923" w="5795480">
                  <a:moveTo>
                    <a:pt x="0" y="0"/>
                  </a:moveTo>
                  <a:lnTo>
                    <a:pt x="5795480" y="0"/>
                  </a:lnTo>
                  <a:lnTo>
                    <a:pt x="5795480" y="5352923"/>
                  </a:lnTo>
                  <a:lnTo>
                    <a:pt x="0" y="5352923"/>
                  </a:lnTo>
                  <a:lnTo>
                    <a:pt x="0" y="0"/>
                  </a:lnTo>
                  <a:close/>
                </a:path>
              </a:pathLst>
            </a:custGeom>
            <a:blipFill>
              <a:blip r:embed="rId6">
                <a:extLst>
                  <a:ext uri="{96DAC541-7B7A-43D3-8B79-37D633B846F1}">
                    <asvg:svgBlip xmlns:asvg="http://schemas.microsoft.com/office/drawing/2016/SVG/main" r:embed="rId7"/>
                  </a:ext>
                </a:extLst>
              </a:blip>
              <a:stretch>
                <a:fillRect l="0" t="-106" r="0" b="-106"/>
              </a:stretch>
            </a:blipFill>
          </p:spPr>
        </p:sp>
        <p:sp>
          <p:nvSpPr>
            <p:cNvPr name="Freeform 8" id="8"/>
            <p:cNvSpPr/>
            <p:nvPr/>
          </p:nvSpPr>
          <p:spPr>
            <a:xfrm flipH="false" flipV="false" rot="-10800000">
              <a:off x="19561988" y="2185048"/>
              <a:ext cx="5795480" cy="5352923"/>
            </a:xfrm>
            <a:custGeom>
              <a:avLst/>
              <a:gdLst/>
              <a:ahLst/>
              <a:cxnLst/>
              <a:rect r="r" b="b" t="t" l="l"/>
              <a:pathLst>
                <a:path h="5352923" w="5795480">
                  <a:moveTo>
                    <a:pt x="0" y="0"/>
                  </a:moveTo>
                  <a:lnTo>
                    <a:pt x="5795480" y="0"/>
                  </a:lnTo>
                  <a:lnTo>
                    <a:pt x="5795480" y="5352923"/>
                  </a:lnTo>
                  <a:lnTo>
                    <a:pt x="0" y="5352923"/>
                  </a:lnTo>
                  <a:lnTo>
                    <a:pt x="0" y="0"/>
                  </a:lnTo>
                  <a:close/>
                </a:path>
              </a:pathLst>
            </a:custGeom>
            <a:blipFill>
              <a:blip r:embed="rId6">
                <a:extLst>
                  <a:ext uri="{96DAC541-7B7A-43D3-8B79-37D633B846F1}">
                    <asvg:svgBlip xmlns:asvg="http://schemas.microsoft.com/office/drawing/2016/SVG/main" r:embed="rId7"/>
                  </a:ext>
                </a:extLst>
              </a:blip>
              <a:stretch>
                <a:fillRect l="0" t="-106" r="0" b="-106"/>
              </a:stretch>
            </a:blipFill>
          </p:spPr>
        </p:sp>
        <p:sp>
          <p:nvSpPr>
            <p:cNvPr name="TextBox 9" id="9"/>
            <p:cNvSpPr txBox="true"/>
            <p:nvPr/>
          </p:nvSpPr>
          <p:spPr>
            <a:xfrm rot="0">
              <a:off x="6893827" y="5380698"/>
              <a:ext cx="11940794" cy="1735239"/>
            </a:xfrm>
            <a:prstGeom prst="rect">
              <a:avLst/>
            </a:prstGeom>
          </p:spPr>
          <p:txBody>
            <a:bodyPr anchor="t" rtlCol="false" tIns="0" lIns="0" bIns="0" rIns="0">
              <a:spAutoFit/>
            </a:bodyPr>
            <a:lstStyle/>
            <a:p>
              <a:pPr algn="ctr">
                <a:lnSpc>
                  <a:spcPts val="5298"/>
                </a:lnSpc>
              </a:pPr>
              <a:r>
                <a:rPr lang="en-US" sz="5299">
                  <a:solidFill>
                    <a:srgbClr val="684622"/>
                  </a:solidFill>
                  <a:latin typeface="Lilita One"/>
                  <a:ea typeface="Lilita One"/>
                  <a:cs typeface="Lilita One"/>
                  <a:sym typeface="Lilita One"/>
                </a:rPr>
                <a:t>FIRE AND SMOKE DETECTION SYSTEM</a:t>
              </a:r>
            </a:p>
          </p:txBody>
        </p:sp>
        <p:sp>
          <p:nvSpPr>
            <p:cNvPr name="TextBox 10" id="10"/>
            <p:cNvSpPr txBox="true"/>
            <p:nvPr/>
          </p:nvSpPr>
          <p:spPr>
            <a:xfrm rot="0">
              <a:off x="7406958" y="8213446"/>
              <a:ext cx="11427663" cy="1028700"/>
            </a:xfrm>
            <a:prstGeom prst="rect">
              <a:avLst/>
            </a:prstGeom>
          </p:spPr>
          <p:txBody>
            <a:bodyPr anchor="t" rtlCol="false" tIns="0" lIns="0" bIns="0" rIns="0">
              <a:spAutoFit/>
            </a:bodyPr>
            <a:lstStyle/>
            <a:p>
              <a:pPr algn="l">
                <a:lnSpc>
                  <a:spcPts val="3000"/>
                </a:lnSpc>
              </a:pPr>
              <a:r>
                <a:rPr lang="en-US" sz="3000">
                  <a:solidFill>
                    <a:srgbClr val="684622"/>
                  </a:solidFill>
                  <a:latin typeface="Malik"/>
                  <a:ea typeface="Malik"/>
                  <a:cs typeface="Malik"/>
                  <a:sym typeface="Malik"/>
                </a:rPr>
                <a:t>TEAM MEMBERS:</a:t>
              </a:r>
            </a:p>
            <a:p>
              <a:pPr algn="just">
                <a:lnSpc>
                  <a:spcPts val="3000"/>
                </a:lnSpc>
              </a:pPr>
            </a:p>
          </p:txBody>
        </p:sp>
        <p:sp>
          <p:nvSpPr>
            <p:cNvPr name="TextBox 11" id="11"/>
            <p:cNvSpPr txBox="true"/>
            <p:nvPr/>
          </p:nvSpPr>
          <p:spPr>
            <a:xfrm rot="0">
              <a:off x="23684624" y="12913246"/>
              <a:ext cx="203200" cy="314325"/>
            </a:xfrm>
            <a:prstGeom prst="rect">
              <a:avLst/>
            </a:prstGeom>
          </p:spPr>
          <p:txBody>
            <a:bodyPr anchor="t" rtlCol="false" tIns="0" lIns="0" bIns="0" rIns="0">
              <a:spAutoFit/>
            </a:bodyPr>
            <a:lstStyle/>
            <a:p>
              <a:pPr algn="ctr">
                <a:lnSpc>
                  <a:spcPts val="2800"/>
                </a:lnSpc>
              </a:pPr>
              <a:r>
                <a:rPr lang="en-US" sz="2000">
                  <a:solidFill>
                    <a:srgbClr val="684622"/>
                  </a:solidFill>
                  <a:latin typeface="Canva Sans"/>
                  <a:ea typeface="Canva Sans"/>
                  <a:cs typeface="Canva Sans"/>
                  <a:sym typeface="Canva Sans"/>
                </a:rPr>
                <a:t>1</a:t>
              </a:r>
            </a:p>
          </p:txBody>
        </p:sp>
        <p:sp>
          <p:nvSpPr>
            <p:cNvPr name="TextBox 12" id="12"/>
            <p:cNvSpPr txBox="true"/>
            <p:nvPr/>
          </p:nvSpPr>
          <p:spPr>
            <a:xfrm rot="0">
              <a:off x="12437339" y="8213446"/>
              <a:ext cx="11427663" cy="5092700"/>
            </a:xfrm>
            <a:prstGeom prst="rect">
              <a:avLst/>
            </a:prstGeom>
          </p:spPr>
          <p:txBody>
            <a:bodyPr anchor="t" rtlCol="false" tIns="0" lIns="0" bIns="0" rIns="0">
              <a:spAutoFit/>
            </a:bodyPr>
            <a:lstStyle/>
            <a:p>
              <a:pPr algn="l">
                <a:lnSpc>
                  <a:spcPts val="3000"/>
                </a:lnSpc>
              </a:pPr>
              <a:r>
                <a:rPr lang="en-US" sz="3000">
                  <a:solidFill>
                    <a:srgbClr val="684622"/>
                  </a:solidFill>
                  <a:latin typeface="Malik"/>
                  <a:ea typeface="Malik"/>
                  <a:cs typeface="Malik"/>
                  <a:sym typeface="Malik"/>
                </a:rPr>
                <a:t>K R GOURINANDA       </a:t>
              </a:r>
            </a:p>
            <a:p>
              <a:pPr algn="l">
                <a:lnSpc>
                  <a:spcPts val="3000"/>
                </a:lnSpc>
              </a:pPr>
            </a:p>
            <a:p>
              <a:pPr algn="l">
                <a:lnSpc>
                  <a:spcPts val="3000"/>
                </a:lnSpc>
              </a:pPr>
              <a:r>
                <a:rPr lang="en-US" sz="3000">
                  <a:solidFill>
                    <a:srgbClr val="684622"/>
                  </a:solidFill>
                  <a:latin typeface="Malik"/>
                  <a:ea typeface="Malik"/>
                  <a:cs typeface="Malik"/>
                  <a:sym typeface="Malik"/>
                </a:rPr>
                <a:t>PRARTHANA R</a:t>
              </a:r>
            </a:p>
            <a:p>
              <a:pPr algn="l">
                <a:lnSpc>
                  <a:spcPts val="3000"/>
                </a:lnSpc>
              </a:pPr>
            </a:p>
            <a:p>
              <a:pPr algn="l">
                <a:lnSpc>
                  <a:spcPts val="3000"/>
                </a:lnSpc>
              </a:pPr>
              <a:r>
                <a:rPr lang="en-US" sz="3000">
                  <a:solidFill>
                    <a:srgbClr val="684622"/>
                  </a:solidFill>
                  <a:latin typeface="Malik"/>
                  <a:ea typeface="Malik"/>
                  <a:cs typeface="Malik"/>
                  <a:sym typeface="Malik"/>
                </a:rPr>
                <a:t>KEERTHI PRATHAP</a:t>
              </a:r>
            </a:p>
            <a:p>
              <a:pPr algn="l">
                <a:lnSpc>
                  <a:spcPts val="3000"/>
                </a:lnSpc>
              </a:pPr>
            </a:p>
            <a:p>
              <a:pPr algn="l">
                <a:lnSpc>
                  <a:spcPts val="3000"/>
                </a:lnSpc>
              </a:pPr>
              <a:r>
                <a:rPr lang="en-US" sz="3000">
                  <a:solidFill>
                    <a:srgbClr val="684622"/>
                  </a:solidFill>
                  <a:latin typeface="Malik"/>
                  <a:ea typeface="Malik"/>
                  <a:cs typeface="Malik"/>
                  <a:sym typeface="Malik"/>
                </a:rPr>
                <a:t>SIVAKRISHNA V</a:t>
              </a:r>
            </a:p>
            <a:p>
              <a:pPr algn="l">
                <a:lnSpc>
                  <a:spcPts val="3000"/>
                </a:lnSpc>
              </a:pPr>
            </a:p>
            <a:p>
              <a:pPr algn="l">
                <a:lnSpc>
                  <a:spcPts val="3000"/>
                </a:lnSpc>
              </a:pPr>
              <a:r>
                <a:rPr lang="en-US" sz="3000">
                  <a:solidFill>
                    <a:srgbClr val="684622"/>
                  </a:solidFill>
                  <a:latin typeface="Malik"/>
                  <a:ea typeface="Malik"/>
                  <a:cs typeface="Malik"/>
                  <a:sym typeface="Malik"/>
                </a:rPr>
                <a:t>R SREERAG</a:t>
              </a:r>
            </a:p>
            <a:p>
              <a:pPr algn="just">
                <a:lnSpc>
                  <a:spcPts val="3000"/>
                </a:lnSpc>
              </a:pPr>
            </a:p>
          </p:txBody>
        </p:sp>
        <p:sp>
          <p:nvSpPr>
            <p:cNvPr name="TextBox 13" id="13"/>
            <p:cNvSpPr txBox="true"/>
            <p:nvPr/>
          </p:nvSpPr>
          <p:spPr>
            <a:xfrm rot="0">
              <a:off x="17659566" y="8164068"/>
              <a:ext cx="5159896" cy="5061382"/>
            </a:xfrm>
            <a:prstGeom prst="rect">
              <a:avLst/>
            </a:prstGeom>
          </p:spPr>
          <p:txBody>
            <a:bodyPr anchor="t" rtlCol="false" tIns="0" lIns="0" bIns="0" rIns="0">
              <a:spAutoFit/>
            </a:bodyPr>
            <a:lstStyle/>
            <a:p>
              <a:pPr algn="l">
                <a:lnSpc>
                  <a:spcPts val="2994"/>
                </a:lnSpc>
              </a:pPr>
              <a:r>
                <a:rPr lang="en-US" sz="2994">
                  <a:solidFill>
                    <a:srgbClr val="684622"/>
                  </a:solidFill>
                  <a:latin typeface="Malik"/>
                  <a:ea typeface="Malik"/>
                  <a:cs typeface="Malik"/>
                  <a:sym typeface="Malik"/>
                </a:rPr>
                <a:t>9       </a:t>
              </a:r>
            </a:p>
            <a:p>
              <a:pPr algn="l">
                <a:lnSpc>
                  <a:spcPts val="2994"/>
                </a:lnSpc>
              </a:pPr>
            </a:p>
            <a:p>
              <a:pPr algn="l">
                <a:lnSpc>
                  <a:spcPts val="2994"/>
                </a:lnSpc>
              </a:pPr>
              <a:r>
                <a:rPr lang="en-US" sz="2994">
                  <a:solidFill>
                    <a:srgbClr val="684622"/>
                  </a:solidFill>
                  <a:latin typeface="Malik"/>
                  <a:ea typeface="Malik"/>
                  <a:cs typeface="Malik"/>
                  <a:sym typeface="Malik"/>
                </a:rPr>
                <a:t>40</a:t>
              </a:r>
            </a:p>
            <a:p>
              <a:pPr algn="l">
                <a:lnSpc>
                  <a:spcPts val="2994"/>
                </a:lnSpc>
              </a:pPr>
            </a:p>
            <a:p>
              <a:pPr algn="l">
                <a:lnSpc>
                  <a:spcPts val="2994"/>
                </a:lnSpc>
              </a:pPr>
              <a:r>
                <a:rPr lang="en-US" sz="2994">
                  <a:solidFill>
                    <a:srgbClr val="684622"/>
                  </a:solidFill>
                  <a:latin typeface="Malik"/>
                  <a:ea typeface="Malik"/>
                  <a:cs typeface="Malik"/>
                  <a:sym typeface="Malik"/>
                </a:rPr>
                <a:t>8</a:t>
              </a:r>
            </a:p>
            <a:p>
              <a:pPr algn="l">
                <a:lnSpc>
                  <a:spcPts val="2994"/>
                </a:lnSpc>
              </a:pPr>
            </a:p>
            <a:p>
              <a:pPr algn="l">
                <a:lnSpc>
                  <a:spcPts val="2994"/>
                </a:lnSpc>
              </a:pPr>
              <a:r>
                <a:rPr lang="en-US" sz="2994">
                  <a:solidFill>
                    <a:srgbClr val="684622"/>
                  </a:solidFill>
                  <a:latin typeface="Malik"/>
                  <a:ea typeface="Malik"/>
                  <a:cs typeface="Malik"/>
                  <a:sym typeface="Malik"/>
                </a:rPr>
                <a:t>53</a:t>
              </a:r>
            </a:p>
            <a:p>
              <a:pPr algn="l">
                <a:lnSpc>
                  <a:spcPts val="2994"/>
                </a:lnSpc>
              </a:pPr>
            </a:p>
            <a:p>
              <a:pPr algn="l">
                <a:lnSpc>
                  <a:spcPts val="2994"/>
                </a:lnSpc>
              </a:pPr>
              <a:r>
                <a:rPr lang="en-US" sz="2994">
                  <a:solidFill>
                    <a:srgbClr val="684622"/>
                  </a:solidFill>
                  <a:latin typeface="Malik"/>
                  <a:ea typeface="Malik"/>
                  <a:cs typeface="Malik"/>
                  <a:sym typeface="Malik"/>
                </a:rPr>
                <a:t>43</a:t>
              </a:r>
            </a:p>
            <a:p>
              <a:pPr algn="just">
                <a:lnSpc>
                  <a:spcPts val="2994"/>
                </a:lnSpc>
              </a:pP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1028700" y="601666"/>
            <a:ext cx="16936067" cy="11519061"/>
            <a:chOff x="0" y="0"/>
            <a:chExt cx="22581423" cy="15358748"/>
          </a:xfrm>
        </p:grpSpPr>
        <p:sp>
          <p:nvSpPr>
            <p:cNvPr name="TextBox 3" id="3"/>
            <p:cNvSpPr txBox="true"/>
            <p:nvPr/>
          </p:nvSpPr>
          <p:spPr>
            <a:xfrm rot="0">
              <a:off x="0" y="-95250"/>
              <a:ext cx="9623501" cy="1234008"/>
            </a:xfrm>
            <a:prstGeom prst="rect">
              <a:avLst/>
            </a:prstGeom>
          </p:spPr>
          <p:txBody>
            <a:bodyPr anchor="t" rtlCol="false" tIns="0" lIns="0" bIns="0" rIns="0">
              <a:spAutoFit/>
            </a:bodyPr>
            <a:lstStyle/>
            <a:p>
              <a:pPr algn="just">
                <a:lnSpc>
                  <a:spcPts val="7000"/>
                </a:lnSpc>
              </a:pPr>
              <a:r>
                <a:rPr lang="en-US" b="true" sz="4999" spc="-125" u="sng">
                  <a:solidFill>
                    <a:srgbClr val="000000"/>
                  </a:solidFill>
                  <a:latin typeface="Cardo Bold"/>
                  <a:ea typeface="Cardo Bold"/>
                  <a:cs typeface="Cardo Bold"/>
                  <a:sym typeface="Cardo Bold"/>
                </a:rPr>
                <a:t>INTRODUCTION</a:t>
              </a:r>
            </a:p>
          </p:txBody>
        </p:sp>
        <p:sp>
          <p:nvSpPr>
            <p:cNvPr name="TextBox 4" id="4"/>
            <p:cNvSpPr txBox="true"/>
            <p:nvPr/>
          </p:nvSpPr>
          <p:spPr>
            <a:xfrm rot="0">
              <a:off x="269761" y="1920442"/>
              <a:ext cx="21101278" cy="13438307"/>
            </a:xfrm>
            <a:prstGeom prst="rect">
              <a:avLst/>
            </a:prstGeom>
          </p:spPr>
          <p:txBody>
            <a:bodyPr anchor="t" rtlCol="false" tIns="0" lIns="0" bIns="0" rIns="0">
              <a:spAutoFit/>
            </a:bodyPr>
            <a:lstStyle/>
            <a:p>
              <a:pPr algn="just">
                <a:lnSpc>
                  <a:spcPts val="5139"/>
                </a:lnSpc>
              </a:pPr>
              <a:r>
                <a:rPr lang="en-US" sz="3671" spc="146">
                  <a:solidFill>
                    <a:srgbClr val="000000"/>
                  </a:solidFill>
                  <a:latin typeface="Didact Gothic"/>
                  <a:ea typeface="Didact Gothic"/>
                  <a:cs typeface="Didact Gothic"/>
                  <a:sym typeface="Didact Gothic"/>
                </a:rPr>
                <a:t>Fire safety is essential in modern environments due to the widespread use of electrical devices, machinery, and flammable materials. Since fires can occur unexpectedly and spread rapidly, early detection is crucial to reduce damage and protect lives.</a:t>
              </a:r>
            </a:p>
            <a:p>
              <a:pPr algn="just">
                <a:lnSpc>
                  <a:spcPts val="5139"/>
                </a:lnSpc>
              </a:pPr>
              <a:r>
                <a:rPr lang="en-US" sz="3671" spc="146">
                  <a:solidFill>
                    <a:srgbClr val="000000"/>
                  </a:solidFill>
                  <a:latin typeface="Didact Gothic"/>
                  <a:ea typeface="Didact Gothic"/>
                  <a:cs typeface="Didact Gothic"/>
                  <a:sym typeface="Didact Gothic"/>
                </a:rPr>
                <a:t>With the advancement of Internet of Things (IoT) technology, smart systems can monitor environmental conditions in real time and respond automatically. This project develops an IoT-based fire and smoke detection system that triggers a local alarm and sends instant alerts to the user’s mobile phone. Compared to traditional standalone detectors, this approach enables remote monitoring, faster response, and improved overall safety.</a:t>
              </a:r>
            </a:p>
            <a:p>
              <a:pPr algn="just">
                <a:lnSpc>
                  <a:spcPts val="6052"/>
                </a:lnSpc>
              </a:pPr>
            </a:p>
            <a:p>
              <a:pPr algn="just">
                <a:lnSpc>
                  <a:spcPts val="6052"/>
                </a:lnSpc>
              </a:pPr>
            </a:p>
            <a:p>
              <a:pPr algn="just">
                <a:lnSpc>
                  <a:spcPts val="6052"/>
                </a:lnSpc>
              </a:pPr>
            </a:p>
            <a:p>
              <a:pPr algn="just">
                <a:lnSpc>
                  <a:spcPts val="6052"/>
                </a:lnSpc>
              </a:pPr>
            </a:p>
          </p:txBody>
        </p:sp>
        <p:sp>
          <p:nvSpPr>
            <p:cNvPr name="TextBox 5" id="5"/>
            <p:cNvSpPr txBox="true"/>
            <p:nvPr/>
          </p:nvSpPr>
          <p:spPr>
            <a:xfrm rot="0">
              <a:off x="22378223" y="12147917"/>
              <a:ext cx="203200" cy="333036"/>
            </a:xfrm>
            <a:prstGeom prst="rect">
              <a:avLst/>
            </a:prstGeom>
          </p:spPr>
          <p:txBody>
            <a:bodyPr anchor="t" rtlCol="false" tIns="0" lIns="0" bIns="0" rIns="0">
              <a:spAutoFit/>
            </a:bodyPr>
            <a:lstStyle/>
            <a:p>
              <a:pPr algn="ctr">
                <a:lnSpc>
                  <a:spcPts val="2113"/>
                </a:lnSpc>
              </a:pPr>
              <a:r>
                <a:rPr lang="en-US" sz="1509">
                  <a:solidFill>
                    <a:srgbClr val="000000"/>
                  </a:solidFill>
                  <a:latin typeface="Canva Sans"/>
                  <a:ea typeface="Canva Sans"/>
                  <a:cs typeface="Canva Sans"/>
                  <a:sym typeface="Canva Sans"/>
                </a:rPr>
                <a:t>2</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1028700" y="601666"/>
            <a:ext cx="16932731" cy="9356976"/>
            <a:chOff x="0" y="0"/>
            <a:chExt cx="22576975" cy="12475968"/>
          </a:xfrm>
        </p:grpSpPr>
        <p:sp>
          <p:nvSpPr>
            <p:cNvPr name="TextBox 3" id="3"/>
            <p:cNvSpPr txBox="true"/>
            <p:nvPr/>
          </p:nvSpPr>
          <p:spPr>
            <a:xfrm rot="0">
              <a:off x="22380443" y="12142931"/>
              <a:ext cx="196533" cy="333036"/>
            </a:xfrm>
            <a:prstGeom prst="rect">
              <a:avLst/>
            </a:prstGeom>
          </p:spPr>
          <p:txBody>
            <a:bodyPr anchor="t" rtlCol="false" tIns="0" lIns="0" bIns="0" rIns="0">
              <a:spAutoFit/>
            </a:bodyPr>
            <a:lstStyle/>
            <a:p>
              <a:pPr algn="ctr">
                <a:lnSpc>
                  <a:spcPts val="2113"/>
                </a:lnSpc>
              </a:pPr>
              <a:r>
                <a:rPr lang="en-US" sz="1509">
                  <a:solidFill>
                    <a:srgbClr val="000000"/>
                  </a:solidFill>
                  <a:latin typeface="Canva Sans"/>
                  <a:ea typeface="Canva Sans"/>
                  <a:cs typeface="Canva Sans"/>
                  <a:sym typeface="Canva Sans"/>
                </a:rPr>
                <a:t>3</a:t>
              </a:r>
            </a:p>
          </p:txBody>
        </p:sp>
        <p:grpSp>
          <p:nvGrpSpPr>
            <p:cNvPr name="Group 4" id="4"/>
            <p:cNvGrpSpPr/>
            <p:nvPr/>
          </p:nvGrpSpPr>
          <p:grpSpPr>
            <a:xfrm rot="0">
              <a:off x="21596414" y="2040598"/>
              <a:ext cx="41691" cy="10370092"/>
              <a:chOff x="0" y="0"/>
              <a:chExt cx="38100" cy="9476943"/>
            </a:xfrm>
          </p:grpSpPr>
          <p:sp>
            <p:nvSpPr>
              <p:cNvPr name="Freeform 5" id="5"/>
              <p:cNvSpPr/>
              <p:nvPr/>
            </p:nvSpPr>
            <p:spPr>
              <a:xfrm flipH="false" flipV="false" rot="0">
                <a:off x="0" y="25400"/>
                <a:ext cx="50800" cy="9438894"/>
              </a:xfrm>
              <a:custGeom>
                <a:avLst/>
                <a:gdLst/>
                <a:ahLst/>
                <a:cxnLst/>
                <a:rect r="r" b="b" t="t" l="l"/>
                <a:pathLst>
                  <a:path h="9438894" w="50800">
                    <a:moveTo>
                      <a:pt x="50800" y="0"/>
                    </a:moveTo>
                    <a:lnTo>
                      <a:pt x="50800" y="9438894"/>
                    </a:lnTo>
                    <a:lnTo>
                      <a:pt x="0" y="9438894"/>
                    </a:lnTo>
                    <a:lnTo>
                      <a:pt x="0" y="0"/>
                    </a:lnTo>
                    <a:close/>
                  </a:path>
                </a:pathLst>
              </a:custGeom>
              <a:solidFill>
                <a:srgbClr val="000000"/>
              </a:solidFill>
            </p:spPr>
          </p:sp>
        </p:grpSp>
        <p:grpSp>
          <p:nvGrpSpPr>
            <p:cNvPr name="Group 6" id="6"/>
            <p:cNvGrpSpPr/>
            <p:nvPr/>
          </p:nvGrpSpPr>
          <p:grpSpPr>
            <a:xfrm rot="0">
              <a:off x="6287" y="2062442"/>
              <a:ext cx="41603" cy="10348248"/>
              <a:chOff x="0" y="0"/>
              <a:chExt cx="38100" cy="9476943"/>
            </a:xfrm>
          </p:grpSpPr>
          <p:sp>
            <p:nvSpPr>
              <p:cNvPr name="Freeform 7" id="7"/>
              <p:cNvSpPr/>
              <p:nvPr/>
            </p:nvSpPr>
            <p:spPr>
              <a:xfrm flipH="false" flipV="false" rot="0">
                <a:off x="0" y="25400"/>
                <a:ext cx="50800" cy="9438894"/>
              </a:xfrm>
              <a:custGeom>
                <a:avLst/>
                <a:gdLst/>
                <a:ahLst/>
                <a:cxnLst/>
                <a:rect r="r" b="b" t="t" l="l"/>
                <a:pathLst>
                  <a:path h="9438894" w="50800">
                    <a:moveTo>
                      <a:pt x="50800" y="0"/>
                    </a:moveTo>
                    <a:lnTo>
                      <a:pt x="50800" y="9438894"/>
                    </a:lnTo>
                    <a:lnTo>
                      <a:pt x="0" y="9438894"/>
                    </a:lnTo>
                    <a:lnTo>
                      <a:pt x="0" y="0"/>
                    </a:lnTo>
                    <a:close/>
                  </a:path>
                </a:pathLst>
              </a:custGeom>
              <a:solidFill>
                <a:srgbClr val="000000"/>
              </a:solidFill>
            </p:spPr>
          </p:sp>
        </p:grpSp>
        <p:grpSp>
          <p:nvGrpSpPr>
            <p:cNvPr name="Group 8" id="8"/>
            <p:cNvGrpSpPr/>
            <p:nvPr/>
          </p:nvGrpSpPr>
          <p:grpSpPr>
            <a:xfrm rot="0">
              <a:off x="4071824" y="2084286"/>
              <a:ext cx="41515" cy="10326404"/>
              <a:chOff x="0" y="0"/>
              <a:chExt cx="38100" cy="9476943"/>
            </a:xfrm>
          </p:grpSpPr>
          <p:sp>
            <p:nvSpPr>
              <p:cNvPr name="Freeform 9" id="9"/>
              <p:cNvSpPr/>
              <p:nvPr/>
            </p:nvSpPr>
            <p:spPr>
              <a:xfrm flipH="false" flipV="false" rot="0">
                <a:off x="0" y="25400"/>
                <a:ext cx="50800" cy="9438894"/>
              </a:xfrm>
              <a:custGeom>
                <a:avLst/>
                <a:gdLst/>
                <a:ahLst/>
                <a:cxnLst/>
                <a:rect r="r" b="b" t="t" l="l"/>
                <a:pathLst>
                  <a:path h="9438894" w="50800">
                    <a:moveTo>
                      <a:pt x="50800" y="0"/>
                    </a:moveTo>
                    <a:lnTo>
                      <a:pt x="50800" y="9438894"/>
                    </a:lnTo>
                    <a:lnTo>
                      <a:pt x="0" y="9438894"/>
                    </a:lnTo>
                    <a:lnTo>
                      <a:pt x="0" y="0"/>
                    </a:lnTo>
                    <a:close/>
                  </a:path>
                </a:pathLst>
              </a:custGeom>
              <a:solidFill>
                <a:srgbClr val="000000"/>
              </a:solidFill>
            </p:spPr>
          </p:sp>
        </p:grpSp>
        <p:grpSp>
          <p:nvGrpSpPr>
            <p:cNvPr name="Group 10" id="10"/>
            <p:cNvGrpSpPr/>
            <p:nvPr/>
          </p:nvGrpSpPr>
          <p:grpSpPr>
            <a:xfrm rot="0">
              <a:off x="10505856" y="2084286"/>
              <a:ext cx="41011" cy="10288304"/>
              <a:chOff x="0" y="0"/>
              <a:chExt cx="38100" cy="9557995"/>
            </a:xfrm>
          </p:grpSpPr>
          <p:sp>
            <p:nvSpPr>
              <p:cNvPr name="Freeform 11" id="11"/>
              <p:cNvSpPr/>
              <p:nvPr/>
            </p:nvSpPr>
            <p:spPr>
              <a:xfrm flipH="false" flipV="false" rot="0">
                <a:off x="0" y="25400"/>
                <a:ext cx="50800" cy="9519920"/>
              </a:xfrm>
              <a:custGeom>
                <a:avLst/>
                <a:gdLst/>
                <a:ahLst/>
                <a:cxnLst/>
                <a:rect r="r" b="b" t="t" l="l"/>
                <a:pathLst>
                  <a:path h="9519920" w="50800">
                    <a:moveTo>
                      <a:pt x="50800" y="0"/>
                    </a:moveTo>
                    <a:lnTo>
                      <a:pt x="50800" y="9519920"/>
                    </a:lnTo>
                    <a:lnTo>
                      <a:pt x="0" y="9519920"/>
                    </a:lnTo>
                    <a:lnTo>
                      <a:pt x="0" y="0"/>
                    </a:lnTo>
                    <a:close/>
                  </a:path>
                </a:pathLst>
              </a:custGeom>
              <a:solidFill>
                <a:srgbClr val="000000"/>
              </a:solidFill>
            </p:spPr>
          </p:sp>
        </p:grpSp>
        <p:grpSp>
          <p:nvGrpSpPr>
            <p:cNvPr name="Group 12" id="12"/>
            <p:cNvGrpSpPr/>
            <p:nvPr/>
          </p:nvGrpSpPr>
          <p:grpSpPr>
            <a:xfrm rot="0">
              <a:off x="16331020" y="2084286"/>
              <a:ext cx="41515" cy="10326404"/>
              <a:chOff x="0" y="0"/>
              <a:chExt cx="38100" cy="9476943"/>
            </a:xfrm>
          </p:grpSpPr>
          <p:sp>
            <p:nvSpPr>
              <p:cNvPr name="Freeform 13" id="13"/>
              <p:cNvSpPr/>
              <p:nvPr/>
            </p:nvSpPr>
            <p:spPr>
              <a:xfrm flipH="false" flipV="false" rot="0">
                <a:off x="0" y="25400"/>
                <a:ext cx="50800" cy="9438894"/>
              </a:xfrm>
              <a:custGeom>
                <a:avLst/>
                <a:gdLst/>
                <a:ahLst/>
                <a:cxnLst/>
                <a:rect r="r" b="b" t="t" l="l"/>
                <a:pathLst>
                  <a:path h="9438894" w="50800">
                    <a:moveTo>
                      <a:pt x="50800" y="0"/>
                    </a:moveTo>
                    <a:lnTo>
                      <a:pt x="50800" y="9438894"/>
                    </a:lnTo>
                    <a:lnTo>
                      <a:pt x="0" y="9438894"/>
                    </a:lnTo>
                    <a:lnTo>
                      <a:pt x="0" y="0"/>
                    </a:lnTo>
                    <a:close/>
                  </a:path>
                </a:pathLst>
              </a:custGeom>
              <a:solidFill>
                <a:srgbClr val="000000"/>
              </a:solidFill>
            </p:spPr>
          </p:sp>
        </p:grpSp>
        <p:grpSp>
          <p:nvGrpSpPr>
            <p:cNvPr name="Group 14" id="14"/>
            <p:cNvGrpSpPr/>
            <p:nvPr/>
          </p:nvGrpSpPr>
          <p:grpSpPr>
            <a:xfrm rot="0">
              <a:off x="31636" y="3903891"/>
              <a:ext cx="21602878" cy="38100"/>
              <a:chOff x="0" y="0"/>
              <a:chExt cx="21602878" cy="38100"/>
            </a:xfrm>
          </p:grpSpPr>
          <p:sp>
            <p:nvSpPr>
              <p:cNvPr name="Freeform 15" id="15"/>
              <p:cNvSpPr/>
              <p:nvPr/>
            </p:nvSpPr>
            <p:spPr>
              <a:xfrm flipH="false" flipV="false" rot="0">
                <a:off x="25400" y="0"/>
                <a:ext cx="21564727" cy="50800"/>
              </a:xfrm>
              <a:custGeom>
                <a:avLst/>
                <a:gdLst/>
                <a:ahLst/>
                <a:cxnLst/>
                <a:rect r="r" b="b" t="t" l="l"/>
                <a:pathLst>
                  <a:path h="50800" w="21564727">
                    <a:moveTo>
                      <a:pt x="0" y="0"/>
                    </a:moveTo>
                    <a:lnTo>
                      <a:pt x="21564727" y="0"/>
                    </a:lnTo>
                    <a:lnTo>
                      <a:pt x="21564727" y="50800"/>
                    </a:lnTo>
                    <a:lnTo>
                      <a:pt x="0" y="50800"/>
                    </a:lnTo>
                    <a:close/>
                  </a:path>
                </a:pathLst>
              </a:custGeom>
              <a:solidFill>
                <a:srgbClr val="000000"/>
              </a:solidFill>
            </p:spPr>
          </p:sp>
        </p:grpSp>
        <p:sp>
          <p:nvSpPr>
            <p:cNvPr name="TextBox 16" id="16"/>
            <p:cNvSpPr txBox="true"/>
            <p:nvPr/>
          </p:nvSpPr>
          <p:spPr>
            <a:xfrm rot="0">
              <a:off x="1715681" y="2734755"/>
              <a:ext cx="1520825" cy="619620"/>
            </a:xfrm>
            <a:prstGeom prst="rect">
              <a:avLst/>
            </a:prstGeom>
          </p:spPr>
          <p:txBody>
            <a:bodyPr anchor="t" rtlCol="false" tIns="0" lIns="0" bIns="0" rIns="0">
              <a:spAutoFit/>
            </a:bodyPr>
            <a:lstStyle/>
            <a:p>
              <a:pPr algn="ctr">
                <a:lnSpc>
                  <a:spcPts val="3613"/>
                </a:lnSpc>
              </a:pPr>
              <a:r>
                <a:rPr lang="en-US" b="true" sz="2581" spc="-64">
                  <a:solidFill>
                    <a:srgbClr val="000000"/>
                  </a:solidFill>
                  <a:latin typeface="Cardo Bold"/>
                  <a:ea typeface="Cardo Bold"/>
                  <a:cs typeface="Cardo Bold"/>
                  <a:sym typeface="Cardo Bold"/>
                </a:rPr>
                <a:t>TITLE</a:t>
              </a:r>
            </a:p>
          </p:txBody>
        </p:sp>
        <p:sp>
          <p:nvSpPr>
            <p:cNvPr name="TextBox 17" id="17"/>
            <p:cNvSpPr txBox="true"/>
            <p:nvPr/>
          </p:nvSpPr>
          <p:spPr>
            <a:xfrm rot="0">
              <a:off x="4811751" y="2734755"/>
              <a:ext cx="5372583" cy="619620"/>
            </a:xfrm>
            <a:prstGeom prst="rect">
              <a:avLst/>
            </a:prstGeom>
          </p:spPr>
          <p:txBody>
            <a:bodyPr anchor="t" rtlCol="false" tIns="0" lIns="0" bIns="0" rIns="0">
              <a:spAutoFit/>
            </a:bodyPr>
            <a:lstStyle/>
            <a:p>
              <a:pPr algn="ctr">
                <a:lnSpc>
                  <a:spcPts val="3613"/>
                </a:lnSpc>
              </a:pPr>
              <a:r>
                <a:rPr lang="en-US" b="true" sz="2581" spc="-64">
                  <a:solidFill>
                    <a:srgbClr val="000000"/>
                  </a:solidFill>
                  <a:latin typeface="Cardo Bold"/>
                  <a:ea typeface="Cardo Bold"/>
                  <a:cs typeface="Cardo Bold"/>
                  <a:sym typeface="Cardo Bold"/>
                </a:rPr>
                <a:t>JOURNAL AND YEAR</a:t>
              </a:r>
            </a:p>
          </p:txBody>
        </p:sp>
        <p:sp>
          <p:nvSpPr>
            <p:cNvPr name="TextBox 18" id="18"/>
            <p:cNvSpPr txBox="true"/>
            <p:nvPr/>
          </p:nvSpPr>
          <p:spPr>
            <a:xfrm rot="0">
              <a:off x="11823510" y="2734755"/>
              <a:ext cx="3498380" cy="619620"/>
            </a:xfrm>
            <a:prstGeom prst="rect">
              <a:avLst/>
            </a:prstGeom>
          </p:spPr>
          <p:txBody>
            <a:bodyPr anchor="t" rtlCol="false" tIns="0" lIns="0" bIns="0" rIns="0">
              <a:spAutoFit/>
            </a:bodyPr>
            <a:lstStyle/>
            <a:p>
              <a:pPr algn="ctr">
                <a:lnSpc>
                  <a:spcPts val="3613"/>
                </a:lnSpc>
              </a:pPr>
              <a:r>
                <a:rPr lang="en-US" b="true" sz="2581" spc="-64">
                  <a:solidFill>
                    <a:srgbClr val="000000"/>
                  </a:solidFill>
                  <a:latin typeface="Cardo Bold"/>
                  <a:ea typeface="Cardo Bold"/>
                  <a:cs typeface="Cardo Bold"/>
                  <a:sym typeface="Cardo Bold"/>
                </a:rPr>
                <a:t>LIMITATIONS</a:t>
              </a:r>
            </a:p>
          </p:txBody>
        </p:sp>
        <p:sp>
          <p:nvSpPr>
            <p:cNvPr name="TextBox 19" id="19"/>
            <p:cNvSpPr txBox="true"/>
            <p:nvPr/>
          </p:nvSpPr>
          <p:spPr>
            <a:xfrm rot="0">
              <a:off x="17364977" y="2734755"/>
              <a:ext cx="3069768" cy="619620"/>
            </a:xfrm>
            <a:prstGeom prst="rect">
              <a:avLst/>
            </a:prstGeom>
          </p:spPr>
          <p:txBody>
            <a:bodyPr anchor="t" rtlCol="false" tIns="0" lIns="0" bIns="0" rIns="0">
              <a:spAutoFit/>
            </a:bodyPr>
            <a:lstStyle/>
            <a:p>
              <a:pPr algn="ctr">
                <a:lnSpc>
                  <a:spcPts val="3613"/>
                </a:lnSpc>
              </a:pPr>
              <a:r>
                <a:rPr lang="en-US" b="true" sz="2581" spc="-64">
                  <a:solidFill>
                    <a:srgbClr val="000000"/>
                  </a:solidFill>
                  <a:latin typeface="Cardo Bold"/>
                  <a:ea typeface="Cardo Bold"/>
                  <a:cs typeface="Cardo Bold"/>
                  <a:sym typeface="Cardo Bold"/>
                </a:rPr>
                <a:t>SOLUTIONS</a:t>
              </a:r>
            </a:p>
          </p:txBody>
        </p:sp>
        <p:grpSp>
          <p:nvGrpSpPr>
            <p:cNvPr name="Group 20" id="20"/>
            <p:cNvGrpSpPr/>
            <p:nvPr/>
          </p:nvGrpSpPr>
          <p:grpSpPr>
            <a:xfrm rot="0">
              <a:off x="6287" y="2062442"/>
              <a:ext cx="21628214" cy="38100"/>
              <a:chOff x="0" y="0"/>
              <a:chExt cx="21628214" cy="38100"/>
            </a:xfrm>
          </p:grpSpPr>
          <p:sp>
            <p:nvSpPr>
              <p:cNvPr name="Freeform 21" id="21"/>
              <p:cNvSpPr/>
              <p:nvPr/>
            </p:nvSpPr>
            <p:spPr>
              <a:xfrm flipH="false" flipV="false" rot="0">
                <a:off x="25400" y="0"/>
                <a:ext cx="21590127" cy="50800"/>
              </a:xfrm>
              <a:custGeom>
                <a:avLst/>
                <a:gdLst/>
                <a:ahLst/>
                <a:cxnLst/>
                <a:rect r="r" b="b" t="t" l="l"/>
                <a:pathLst>
                  <a:path h="50800" w="21590127">
                    <a:moveTo>
                      <a:pt x="0" y="0"/>
                    </a:moveTo>
                    <a:lnTo>
                      <a:pt x="21590127" y="0"/>
                    </a:lnTo>
                    <a:lnTo>
                      <a:pt x="21590127" y="50800"/>
                    </a:lnTo>
                    <a:lnTo>
                      <a:pt x="0" y="50800"/>
                    </a:lnTo>
                    <a:close/>
                  </a:path>
                </a:pathLst>
              </a:custGeom>
              <a:solidFill>
                <a:srgbClr val="000000"/>
              </a:solidFill>
            </p:spPr>
          </p:sp>
        </p:grpSp>
        <p:grpSp>
          <p:nvGrpSpPr>
            <p:cNvPr name="Group 22" id="22"/>
            <p:cNvGrpSpPr/>
            <p:nvPr/>
          </p:nvGrpSpPr>
          <p:grpSpPr>
            <a:xfrm rot="0">
              <a:off x="44387" y="12372590"/>
              <a:ext cx="21628214" cy="38100"/>
              <a:chOff x="0" y="0"/>
              <a:chExt cx="21628214" cy="38100"/>
            </a:xfrm>
          </p:grpSpPr>
          <p:sp>
            <p:nvSpPr>
              <p:cNvPr name="Freeform 23" id="23"/>
              <p:cNvSpPr/>
              <p:nvPr/>
            </p:nvSpPr>
            <p:spPr>
              <a:xfrm flipH="false" flipV="false" rot="0">
                <a:off x="25400" y="0"/>
                <a:ext cx="21590127" cy="50800"/>
              </a:xfrm>
              <a:custGeom>
                <a:avLst/>
                <a:gdLst/>
                <a:ahLst/>
                <a:cxnLst/>
                <a:rect r="r" b="b" t="t" l="l"/>
                <a:pathLst>
                  <a:path h="50800" w="21590127">
                    <a:moveTo>
                      <a:pt x="0" y="0"/>
                    </a:moveTo>
                    <a:lnTo>
                      <a:pt x="21590127" y="0"/>
                    </a:lnTo>
                    <a:lnTo>
                      <a:pt x="21590127" y="50800"/>
                    </a:lnTo>
                    <a:lnTo>
                      <a:pt x="0" y="50800"/>
                    </a:lnTo>
                    <a:close/>
                  </a:path>
                </a:pathLst>
              </a:custGeom>
              <a:solidFill>
                <a:srgbClr val="000000"/>
              </a:solidFill>
            </p:spPr>
          </p:sp>
        </p:grpSp>
        <p:sp>
          <p:nvSpPr>
            <p:cNvPr name="TextBox 24" id="24"/>
            <p:cNvSpPr txBox="true"/>
            <p:nvPr/>
          </p:nvSpPr>
          <p:spPr>
            <a:xfrm rot="0">
              <a:off x="241757" y="4103409"/>
              <a:ext cx="3474467" cy="1632962"/>
            </a:xfrm>
            <a:prstGeom prst="rect">
              <a:avLst/>
            </a:prstGeom>
          </p:spPr>
          <p:txBody>
            <a:bodyPr anchor="t" rtlCol="false" tIns="0" lIns="0" bIns="0" rIns="0">
              <a:spAutoFit/>
            </a:bodyPr>
            <a:lstStyle/>
            <a:p>
              <a:pPr algn="l">
                <a:lnSpc>
                  <a:spcPts val="3361"/>
                </a:lnSpc>
              </a:pPr>
              <a:r>
                <a:rPr lang="en-US" sz="2399" spc="-59">
                  <a:solidFill>
                    <a:srgbClr val="000000"/>
                  </a:solidFill>
                  <a:latin typeface="Didact Gothic"/>
                  <a:ea typeface="Didact Gothic"/>
                  <a:cs typeface="Didact Gothic"/>
                  <a:sym typeface="Didact Gothic"/>
                </a:rPr>
                <a:t>Smoke Detection and Fire Safety System Using IoT</a:t>
              </a:r>
            </a:p>
          </p:txBody>
        </p:sp>
        <p:sp>
          <p:nvSpPr>
            <p:cNvPr name="TextBox 25" id="25"/>
            <p:cNvSpPr txBox="true"/>
            <p:nvPr/>
          </p:nvSpPr>
          <p:spPr>
            <a:xfrm rot="0">
              <a:off x="4680191" y="3494646"/>
              <a:ext cx="5504142" cy="3309663"/>
            </a:xfrm>
            <a:prstGeom prst="rect">
              <a:avLst/>
            </a:prstGeom>
          </p:spPr>
          <p:txBody>
            <a:bodyPr anchor="t" rtlCol="false" tIns="0" lIns="0" bIns="0" rIns="0">
              <a:spAutoFit/>
            </a:bodyPr>
            <a:lstStyle/>
            <a:p>
              <a:pPr algn="just">
                <a:lnSpc>
                  <a:spcPts val="3359"/>
                </a:lnSpc>
              </a:pPr>
            </a:p>
            <a:p>
              <a:pPr algn="just">
                <a:lnSpc>
                  <a:spcPts val="3359"/>
                </a:lnSpc>
              </a:pPr>
              <a:r>
                <a:rPr lang="en-US" sz="2400" spc="-59">
                  <a:solidFill>
                    <a:srgbClr val="000000"/>
                  </a:solidFill>
                  <a:latin typeface="Didact Gothic"/>
                  <a:ea typeface="Didact Gothic"/>
                  <a:cs typeface="Didact Gothic"/>
                  <a:sym typeface="Didact Gothic"/>
                </a:rPr>
                <a:t>International Journal of Advance Scientific Research &amp; Engineering Trends, Volume 5, Issue 12, April 2021</a:t>
              </a:r>
            </a:p>
            <a:p>
              <a:pPr algn="l">
                <a:lnSpc>
                  <a:spcPts val="3359"/>
                </a:lnSpc>
              </a:pPr>
            </a:p>
          </p:txBody>
        </p:sp>
        <p:sp>
          <p:nvSpPr>
            <p:cNvPr name="TextBox 26" id="26"/>
            <p:cNvSpPr txBox="true"/>
            <p:nvPr/>
          </p:nvSpPr>
          <p:spPr>
            <a:xfrm rot="0">
              <a:off x="10906964" y="4103409"/>
              <a:ext cx="5063960" cy="2750863"/>
            </a:xfrm>
            <a:prstGeom prst="rect">
              <a:avLst/>
            </a:prstGeom>
          </p:spPr>
          <p:txBody>
            <a:bodyPr anchor="t" rtlCol="false" tIns="0" lIns="0" bIns="0" rIns="0">
              <a:spAutoFit/>
            </a:bodyPr>
            <a:lstStyle/>
            <a:p>
              <a:pPr algn="l">
                <a:lnSpc>
                  <a:spcPts val="3359"/>
                </a:lnSpc>
              </a:pPr>
              <a:r>
                <a:rPr lang="en-US" sz="2400" spc="-59">
                  <a:solidFill>
                    <a:srgbClr val="000000"/>
                  </a:solidFill>
                  <a:latin typeface="Didact Gothic"/>
                  <a:ea typeface="Didact Gothic"/>
                  <a:cs typeface="Didact Gothic"/>
                  <a:sym typeface="Didact Gothic"/>
                </a:rPr>
                <a:t>Incorrect sensor selection — MQ-7 gas sensor detects only carbon monoxide, not general smoke, causing unreliable fire detection.</a:t>
              </a:r>
            </a:p>
          </p:txBody>
        </p:sp>
        <p:sp>
          <p:nvSpPr>
            <p:cNvPr name="TextBox 27" id="27"/>
            <p:cNvSpPr txBox="true"/>
            <p:nvPr/>
          </p:nvSpPr>
          <p:spPr>
            <a:xfrm rot="0">
              <a:off x="16667930" y="4028046"/>
              <a:ext cx="4738611" cy="2750863"/>
            </a:xfrm>
            <a:prstGeom prst="rect">
              <a:avLst/>
            </a:prstGeom>
          </p:spPr>
          <p:txBody>
            <a:bodyPr anchor="t" rtlCol="false" tIns="0" lIns="0" bIns="0" rIns="0">
              <a:spAutoFit/>
            </a:bodyPr>
            <a:lstStyle/>
            <a:p>
              <a:pPr algn="l">
                <a:lnSpc>
                  <a:spcPts val="3359"/>
                </a:lnSpc>
              </a:pPr>
              <a:r>
                <a:rPr lang="en-US" sz="2400" spc="-59">
                  <a:solidFill>
                    <a:srgbClr val="000000"/>
                  </a:solidFill>
                  <a:latin typeface="Didact Gothic"/>
                  <a:ea typeface="Didact Gothic"/>
                  <a:cs typeface="Didact Gothic"/>
                  <a:sym typeface="Didact Gothic"/>
                </a:rPr>
                <a:t>Replace with MQ-2 gas sensor for broader detection of smoke and combustible gases, improving fire detection accuracy.</a:t>
              </a:r>
            </a:p>
          </p:txBody>
        </p:sp>
        <p:sp>
          <p:nvSpPr>
            <p:cNvPr name="TextBox 28" id="28"/>
            <p:cNvSpPr txBox="true"/>
            <p:nvPr/>
          </p:nvSpPr>
          <p:spPr>
            <a:xfrm rot="0">
              <a:off x="124066" y="6629345"/>
              <a:ext cx="3871582" cy="2191762"/>
            </a:xfrm>
            <a:prstGeom prst="rect">
              <a:avLst/>
            </a:prstGeom>
          </p:spPr>
          <p:txBody>
            <a:bodyPr anchor="t" rtlCol="false" tIns="0" lIns="0" bIns="0" rIns="0">
              <a:spAutoFit/>
            </a:bodyPr>
            <a:lstStyle/>
            <a:p>
              <a:pPr algn="l">
                <a:lnSpc>
                  <a:spcPts val="3361"/>
                </a:lnSpc>
              </a:pPr>
              <a:r>
                <a:rPr lang="en-US" sz="2400" spc="-59">
                  <a:solidFill>
                    <a:srgbClr val="000000"/>
                  </a:solidFill>
                  <a:latin typeface="Didact Gothic"/>
                  <a:ea typeface="Didact Gothic"/>
                  <a:cs typeface="Didact Gothic"/>
                  <a:sym typeface="Didact Gothic"/>
                </a:rPr>
                <a:t>IoT Based Fire and Smoke Detection using Alarm and App Notification</a:t>
              </a:r>
            </a:p>
          </p:txBody>
        </p:sp>
        <p:sp>
          <p:nvSpPr>
            <p:cNvPr name="TextBox 29" id="29"/>
            <p:cNvSpPr txBox="true"/>
            <p:nvPr/>
          </p:nvSpPr>
          <p:spPr>
            <a:xfrm rot="0">
              <a:off x="4519114" y="7034988"/>
              <a:ext cx="5504142" cy="2192063"/>
            </a:xfrm>
            <a:prstGeom prst="rect">
              <a:avLst/>
            </a:prstGeom>
          </p:spPr>
          <p:txBody>
            <a:bodyPr anchor="t" rtlCol="false" tIns="0" lIns="0" bIns="0" rIns="0">
              <a:spAutoFit/>
            </a:bodyPr>
            <a:lstStyle/>
            <a:p>
              <a:pPr algn="l">
                <a:lnSpc>
                  <a:spcPts val="3359"/>
                </a:lnSpc>
              </a:pPr>
              <a:r>
                <a:rPr lang="en-US" sz="2399" spc="-59">
                  <a:solidFill>
                    <a:srgbClr val="000000"/>
                  </a:solidFill>
                  <a:latin typeface="Didact Gothic"/>
                  <a:ea typeface="Didact Gothic"/>
                  <a:cs typeface="Didact Gothic"/>
                  <a:sym typeface="Didact Gothic"/>
                </a:rPr>
                <a:t>International Journal of Innovative Research in Technology, Volume 12, Issue 8, January 2026</a:t>
              </a:r>
            </a:p>
          </p:txBody>
        </p:sp>
        <p:sp>
          <p:nvSpPr>
            <p:cNvPr name="TextBox 30" id="30"/>
            <p:cNvSpPr txBox="true"/>
            <p:nvPr/>
          </p:nvSpPr>
          <p:spPr>
            <a:xfrm rot="0">
              <a:off x="10858494" y="7034988"/>
              <a:ext cx="5063960" cy="2192063"/>
            </a:xfrm>
            <a:prstGeom prst="rect">
              <a:avLst/>
            </a:prstGeom>
          </p:spPr>
          <p:txBody>
            <a:bodyPr anchor="t" rtlCol="false" tIns="0" lIns="0" bIns="0" rIns="0">
              <a:spAutoFit/>
            </a:bodyPr>
            <a:lstStyle/>
            <a:p>
              <a:pPr algn="l">
                <a:lnSpc>
                  <a:spcPts val="3359"/>
                </a:lnSpc>
              </a:pPr>
              <a:r>
                <a:rPr lang="en-US" sz="2400" spc="-59">
                  <a:solidFill>
                    <a:srgbClr val="000000"/>
                  </a:solidFill>
                  <a:latin typeface="Didact Gothic"/>
                  <a:ea typeface="Didact Gothic"/>
                  <a:cs typeface="Didact Gothic"/>
                  <a:sym typeface="Didact Gothic"/>
                </a:rPr>
                <a:t>Overdependence on Wi-Fi — alerts fail if power, router, or network goes down during a fire.</a:t>
              </a:r>
            </a:p>
          </p:txBody>
        </p:sp>
        <p:sp>
          <p:nvSpPr>
            <p:cNvPr name="TextBox 31" id="31"/>
            <p:cNvSpPr txBox="true"/>
            <p:nvPr/>
          </p:nvSpPr>
          <p:spPr>
            <a:xfrm rot="0">
              <a:off x="16667930" y="7034988"/>
              <a:ext cx="4738611" cy="1633263"/>
            </a:xfrm>
            <a:prstGeom prst="rect">
              <a:avLst/>
            </a:prstGeom>
          </p:spPr>
          <p:txBody>
            <a:bodyPr anchor="t" rtlCol="false" tIns="0" lIns="0" bIns="0" rIns="0">
              <a:spAutoFit/>
            </a:bodyPr>
            <a:lstStyle/>
            <a:p>
              <a:pPr algn="l">
                <a:lnSpc>
                  <a:spcPts val="3359"/>
                </a:lnSpc>
              </a:pPr>
              <a:r>
                <a:rPr lang="en-US" sz="2400" spc="-59">
                  <a:solidFill>
                    <a:srgbClr val="000000"/>
                  </a:solidFill>
                  <a:latin typeface="Didact Gothic"/>
                  <a:ea typeface="Didact Gothic"/>
                  <a:cs typeface="Didact Gothic"/>
                  <a:sym typeface="Didact Gothic"/>
                </a:rPr>
                <a:t>Add SIM900A GSM/GPRS module for reliable SMS/call alerts even without Wi-Fi.</a:t>
              </a:r>
            </a:p>
          </p:txBody>
        </p:sp>
        <p:sp>
          <p:nvSpPr>
            <p:cNvPr name="TextBox 32" id="32"/>
            <p:cNvSpPr txBox="true"/>
            <p:nvPr/>
          </p:nvSpPr>
          <p:spPr>
            <a:xfrm rot="0">
              <a:off x="124066" y="10064419"/>
              <a:ext cx="3871582" cy="1074162"/>
            </a:xfrm>
            <a:prstGeom prst="rect">
              <a:avLst/>
            </a:prstGeom>
          </p:spPr>
          <p:txBody>
            <a:bodyPr anchor="t" rtlCol="false" tIns="0" lIns="0" bIns="0" rIns="0">
              <a:spAutoFit/>
            </a:bodyPr>
            <a:lstStyle/>
            <a:p>
              <a:pPr algn="l">
                <a:lnSpc>
                  <a:spcPts val="3361"/>
                </a:lnSpc>
              </a:pPr>
              <a:r>
                <a:rPr lang="en-US" sz="2400" spc="-59">
                  <a:solidFill>
                    <a:srgbClr val="000000"/>
                  </a:solidFill>
                  <a:latin typeface="Didact Gothic"/>
                  <a:ea typeface="Didact Gothic"/>
                  <a:cs typeface="Didact Gothic"/>
                  <a:sym typeface="Didact Gothic"/>
                </a:rPr>
                <a:t>Smart Fire Detection System Using IoT</a:t>
              </a:r>
            </a:p>
          </p:txBody>
        </p:sp>
        <p:sp>
          <p:nvSpPr>
            <p:cNvPr name="TextBox 33" id="33"/>
            <p:cNvSpPr txBox="true"/>
            <p:nvPr/>
          </p:nvSpPr>
          <p:spPr>
            <a:xfrm rot="0">
              <a:off x="4519114" y="9954336"/>
              <a:ext cx="5504142" cy="1074463"/>
            </a:xfrm>
            <a:prstGeom prst="rect">
              <a:avLst/>
            </a:prstGeom>
          </p:spPr>
          <p:txBody>
            <a:bodyPr anchor="t" rtlCol="false" tIns="0" lIns="0" bIns="0" rIns="0">
              <a:spAutoFit/>
            </a:bodyPr>
            <a:lstStyle/>
            <a:p>
              <a:pPr algn="l">
                <a:lnSpc>
                  <a:spcPts val="3359"/>
                </a:lnSpc>
              </a:pPr>
              <a:r>
                <a:rPr lang="en-US" sz="2400" spc="-59">
                  <a:solidFill>
                    <a:srgbClr val="000000"/>
                  </a:solidFill>
                  <a:latin typeface="Didact Gothic"/>
                  <a:ea typeface="Didact Gothic"/>
                  <a:cs typeface="Didact Gothic"/>
                  <a:sym typeface="Didact Gothic"/>
                </a:rPr>
                <a:t>Disaster &amp; Development, Vol. 12, Issue 02, July–December 2023</a:t>
              </a:r>
            </a:p>
          </p:txBody>
        </p:sp>
        <p:sp>
          <p:nvSpPr>
            <p:cNvPr name="TextBox 34" id="34"/>
            <p:cNvSpPr txBox="true"/>
            <p:nvPr/>
          </p:nvSpPr>
          <p:spPr>
            <a:xfrm rot="0">
              <a:off x="11067567" y="9687636"/>
              <a:ext cx="5063960" cy="1633263"/>
            </a:xfrm>
            <a:prstGeom prst="rect">
              <a:avLst/>
            </a:prstGeom>
          </p:spPr>
          <p:txBody>
            <a:bodyPr anchor="t" rtlCol="false" tIns="0" lIns="0" bIns="0" rIns="0">
              <a:spAutoFit/>
            </a:bodyPr>
            <a:lstStyle/>
            <a:p>
              <a:pPr algn="l">
                <a:lnSpc>
                  <a:spcPts val="3359"/>
                </a:lnSpc>
              </a:pPr>
              <a:r>
                <a:rPr lang="en-US" sz="2400" spc="-59">
                  <a:solidFill>
                    <a:srgbClr val="000000"/>
                  </a:solidFill>
                  <a:latin typeface="Didact Gothic"/>
                  <a:ea typeface="Didact Gothic"/>
                  <a:cs typeface="Didact Gothic"/>
                  <a:sym typeface="Didact Gothic"/>
                </a:rPr>
                <a:t>No power failure strategy — system stops working when electricity fails during a fire.</a:t>
              </a:r>
            </a:p>
          </p:txBody>
        </p:sp>
        <p:sp>
          <p:nvSpPr>
            <p:cNvPr name="TextBox 35" id="35"/>
            <p:cNvSpPr txBox="true"/>
            <p:nvPr/>
          </p:nvSpPr>
          <p:spPr>
            <a:xfrm rot="0">
              <a:off x="16448735" y="9176251"/>
              <a:ext cx="5057432" cy="2750863"/>
            </a:xfrm>
            <a:prstGeom prst="rect">
              <a:avLst/>
            </a:prstGeom>
          </p:spPr>
          <p:txBody>
            <a:bodyPr anchor="t" rtlCol="false" tIns="0" lIns="0" bIns="0" rIns="0">
              <a:spAutoFit/>
            </a:bodyPr>
            <a:lstStyle/>
            <a:p>
              <a:pPr algn="l">
                <a:lnSpc>
                  <a:spcPts val="3359"/>
                </a:lnSpc>
              </a:pPr>
              <a:r>
                <a:rPr lang="en-US" sz="2400" spc="-59">
                  <a:solidFill>
                    <a:srgbClr val="000000"/>
                  </a:solidFill>
                  <a:latin typeface="Didact Gothic"/>
                  <a:ea typeface="Didact Gothic"/>
                  <a:cs typeface="Didact Gothic"/>
                  <a:sym typeface="Didact Gothic"/>
                </a:rPr>
                <a:t>Add 18650 lithium-ion battery with IP5306 charging module to provide backup power and ensure uninterrupted safety monitoring.</a:t>
              </a:r>
            </a:p>
          </p:txBody>
        </p:sp>
        <p:sp>
          <p:nvSpPr>
            <p:cNvPr name="TextBox 36" id="36"/>
            <p:cNvSpPr txBox="true"/>
            <p:nvPr/>
          </p:nvSpPr>
          <p:spPr>
            <a:xfrm rot="0">
              <a:off x="0" y="-95250"/>
              <a:ext cx="9623501" cy="1234008"/>
            </a:xfrm>
            <a:prstGeom prst="rect">
              <a:avLst/>
            </a:prstGeom>
          </p:spPr>
          <p:txBody>
            <a:bodyPr anchor="t" rtlCol="false" tIns="0" lIns="0" bIns="0" rIns="0">
              <a:spAutoFit/>
            </a:bodyPr>
            <a:lstStyle/>
            <a:p>
              <a:pPr algn="just">
                <a:lnSpc>
                  <a:spcPts val="7000"/>
                </a:lnSpc>
              </a:pPr>
              <a:r>
                <a:rPr lang="en-US" b="true" sz="4999" spc="-125" u="sng">
                  <a:solidFill>
                    <a:srgbClr val="000000"/>
                  </a:solidFill>
                  <a:latin typeface="Cardo Bold"/>
                  <a:ea typeface="Cardo Bold"/>
                  <a:cs typeface="Cardo Bold"/>
                  <a:sym typeface="Cardo Bold"/>
                </a:rPr>
                <a:t>LITERATURE REVIEW</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808984" y="601666"/>
            <a:ext cx="17266396" cy="9544456"/>
            <a:chOff x="0" y="0"/>
            <a:chExt cx="23021862" cy="12725941"/>
          </a:xfrm>
        </p:grpSpPr>
        <p:sp>
          <p:nvSpPr>
            <p:cNvPr name="TextBox 3" id="3"/>
            <p:cNvSpPr txBox="true"/>
            <p:nvPr/>
          </p:nvSpPr>
          <p:spPr>
            <a:xfrm rot="0">
              <a:off x="469936" y="-95250"/>
              <a:ext cx="9623501" cy="1234008"/>
            </a:xfrm>
            <a:prstGeom prst="rect">
              <a:avLst/>
            </a:prstGeom>
          </p:spPr>
          <p:txBody>
            <a:bodyPr anchor="t" rtlCol="false" tIns="0" lIns="0" bIns="0" rIns="0">
              <a:spAutoFit/>
            </a:bodyPr>
            <a:lstStyle/>
            <a:p>
              <a:pPr algn="l">
                <a:lnSpc>
                  <a:spcPts val="7000"/>
                </a:lnSpc>
              </a:pPr>
              <a:r>
                <a:rPr lang="en-US" b="true" sz="4999" spc="-125" u="sng">
                  <a:solidFill>
                    <a:srgbClr val="000000"/>
                  </a:solidFill>
                  <a:latin typeface="Cardo Bold"/>
                  <a:ea typeface="Cardo Bold"/>
                  <a:cs typeface="Cardo Bold"/>
                  <a:sym typeface="Cardo Bold"/>
                </a:rPr>
                <a:t>OBJECTIVES</a:t>
              </a:r>
            </a:p>
          </p:txBody>
        </p:sp>
        <p:sp>
          <p:nvSpPr>
            <p:cNvPr name="TextBox 4" id="4"/>
            <p:cNvSpPr txBox="true"/>
            <p:nvPr/>
          </p:nvSpPr>
          <p:spPr>
            <a:xfrm rot="0">
              <a:off x="22818662" y="12392905"/>
              <a:ext cx="203200" cy="333036"/>
            </a:xfrm>
            <a:prstGeom prst="rect">
              <a:avLst/>
            </a:prstGeom>
          </p:spPr>
          <p:txBody>
            <a:bodyPr anchor="t" rtlCol="false" tIns="0" lIns="0" bIns="0" rIns="0">
              <a:spAutoFit/>
            </a:bodyPr>
            <a:lstStyle/>
            <a:p>
              <a:pPr algn="ctr">
                <a:lnSpc>
                  <a:spcPts val="2113"/>
                </a:lnSpc>
              </a:pPr>
              <a:r>
                <a:rPr lang="en-US" sz="1509">
                  <a:solidFill>
                    <a:srgbClr val="000000"/>
                  </a:solidFill>
                  <a:latin typeface="Canva Sans"/>
                  <a:ea typeface="Canva Sans"/>
                  <a:cs typeface="Canva Sans"/>
                  <a:sym typeface="Canva Sans"/>
                </a:rPr>
                <a:t>4</a:t>
              </a:r>
            </a:p>
          </p:txBody>
        </p:sp>
        <p:sp>
          <p:nvSpPr>
            <p:cNvPr name="TextBox 5" id="5"/>
            <p:cNvSpPr txBox="true"/>
            <p:nvPr/>
          </p:nvSpPr>
          <p:spPr>
            <a:xfrm rot="0">
              <a:off x="0" y="1970574"/>
              <a:ext cx="20186874" cy="10004132"/>
            </a:xfrm>
            <a:prstGeom prst="rect">
              <a:avLst/>
            </a:prstGeom>
          </p:spPr>
          <p:txBody>
            <a:bodyPr anchor="t" rtlCol="false" tIns="0" lIns="0" bIns="0" rIns="0">
              <a:spAutoFit/>
            </a:bodyPr>
            <a:lstStyle/>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a:t>
              </a:r>
              <a:r>
                <a:rPr lang="en-US" sz="3871" spc="154">
                  <a:solidFill>
                    <a:srgbClr val="000000"/>
                  </a:solidFill>
                  <a:latin typeface="Didact Gothic"/>
                  <a:ea typeface="Didact Gothic"/>
                  <a:cs typeface="Didact Gothic"/>
                  <a:sym typeface="Didact Gothic"/>
                </a:rPr>
                <a:t> design and implement a fire and smoke detection system using Arduino</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 detect smoke using MQ2 gas sensor</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 detect fire using infrared flame sensor</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 continuously monitor environmental conditions in real time</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 activate a buzzer when smoke or flame is detected</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 send SMS alert using GSM SIM900A module</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 automatically make a phone call during emergency</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 provide quick warning to prevent fire accidents</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To use separate power supply modules for reliable GSM operation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385240" y="649288"/>
            <a:ext cx="18838062" cy="9377003"/>
            <a:chOff x="0" y="0"/>
            <a:chExt cx="25117415" cy="12502670"/>
          </a:xfrm>
        </p:grpSpPr>
        <p:sp>
          <p:nvSpPr>
            <p:cNvPr name="Freeform 3" id="3"/>
            <p:cNvSpPr/>
            <p:nvPr/>
          </p:nvSpPr>
          <p:spPr>
            <a:xfrm flipH="false" flipV="false" rot="0">
              <a:off x="0" y="2393040"/>
              <a:ext cx="12744235" cy="9081511"/>
            </a:xfrm>
            <a:custGeom>
              <a:avLst/>
              <a:gdLst/>
              <a:ahLst/>
              <a:cxnLst/>
              <a:rect r="r" b="b" t="t" l="l"/>
              <a:pathLst>
                <a:path h="9081511" w="12744235">
                  <a:moveTo>
                    <a:pt x="0" y="0"/>
                  </a:moveTo>
                  <a:lnTo>
                    <a:pt x="12744235" y="0"/>
                  </a:lnTo>
                  <a:lnTo>
                    <a:pt x="12744235" y="9081511"/>
                  </a:lnTo>
                  <a:lnTo>
                    <a:pt x="0" y="9081511"/>
                  </a:lnTo>
                  <a:lnTo>
                    <a:pt x="0" y="0"/>
                  </a:lnTo>
                  <a:close/>
                </a:path>
              </a:pathLst>
            </a:custGeom>
            <a:blipFill>
              <a:blip r:embed="rId2"/>
              <a:stretch>
                <a:fillRect l="-20735" t="-47466" r="0" b="-71859"/>
              </a:stretch>
            </a:blipFill>
          </p:spPr>
        </p:sp>
        <p:sp>
          <p:nvSpPr>
            <p:cNvPr name="TextBox 4" id="4"/>
            <p:cNvSpPr txBox="true"/>
            <p:nvPr/>
          </p:nvSpPr>
          <p:spPr>
            <a:xfrm rot="0">
              <a:off x="809045" y="-95250"/>
              <a:ext cx="16761756" cy="1107017"/>
            </a:xfrm>
            <a:prstGeom prst="rect">
              <a:avLst/>
            </a:prstGeom>
          </p:spPr>
          <p:txBody>
            <a:bodyPr anchor="t" rtlCol="false" tIns="0" lIns="0" bIns="0" rIns="0">
              <a:spAutoFit/>
            </a:bodyPr>
            <a:lstStyle/>
            <a:p>
              <a:pPr algn="l">
                <a:lnSpc>
                  <a:spcPts val="7000"/>
                </a:lnSpc>
              </a:pPr>
              <a:r>
                <a:rPr lang="en-US" b="true" sz="4999" spc="-125" u="sng">
                  <a:solidFill>
                    <a:srgbClr val="000000"/>
                  </a:solidFill>
                  <a:latin typeface="Cardo Bold"/>
                  <a:ea typeface="Cardo Bold"/>
                  <a:cs typeface="Cardo Bold"/>
                  <a:sym typeface="Cardo Bold"/>
                </a:rPr>
                <a:t>BLOCK </a:t>
              </a:r>
              <a:r>
                <a:rPr lang="en-US" b="true" sz="4999" spc="-125" u="sng">
                  <a:solidFill>
                    <a:srgbClr val="000000"/>
                  </a:solidFill>
                  <a:latin typeface="Cardo Bold"/>
                  <a:ea typeface="Cardo Bold"/>
                  <a:cs typeface="Cardo Bold"/>
                  <a:sym typeface="Cardo Bold"/>
                </a:rPr>
                <a:t>DIAGRAM &amp; COMPONENTS</a:t>
              </a:r>
            </a:p>
          </p:txBody>
        </p:sp>
        <p:sp>
          <p:nvSpPr>
            <p:cNvPr name="TextBox 5" id="5"/>
            <p:cNvSpPr txBox="true"/>
            <p:nvPr/>
          </p:nvSpPr>
          <p:spPr>
            <a:xfrm rot="0">
              <a:off x="23232891" y="12169634"/>
              <a:ext cx="203200" cy="333036"/>
            </a:xfrm>
            <a:prstGeom prst="rect">
              <a:avLst/>
            </a:prstGeom>
          </p:spPr>
          <p:txBody>
            <a:bodyPr anchor="t" rtlCol="false" tIns="0" lIns="0" bIns="0" rIns="0">
              <a:spAutoFit/>
            </a:bodyPr>
            <a:lstStyle/>
            <a:p>
              <a:pPr algn="ctr">
                <a:lnSpc>
                  <a:spcPts val="2113"/>
                </a:lnSpc>
              </a:pPr>
              <a:r>
                <a:rPr lang="en-US" sz="1509">
                  <a:solidFill>
                    <a:srgbClr val="000000"/>
                  </a:solidFill>
                  <a:latin typeface="Canva Sans"/>
                  <a:ea typeface="Canva Sans"/>
                  <a:cs typeface="Canva Sans"/>
                  <a:sym typeface="Canva Sans"/>
                </a:rPr>
                <a:t>5</a:t>
              </a:r>
            </a:p>
          </p:txBody>
        </p:sp>
        <p:sp>
          <p:nvSpPr>
            <p:cNvPr name="TextBox 6" id="6"/>
            <p:cNvSpPr txBox="true"/>
            <p:nvPr/>
          </p:nvSpPr>
          <p:spPr>
            <a:xfrm rot="0">
              <a:off x="12744235" y="2494488"/>
              <a:ext cx="12373181" cy="8821466"/>
            </a:xfrm>
            <a:prstGeom prst="rect">
              <a:avLst/>
            </a:prstGeom>
          </p:spPr>
          <p:txBody>
            <a:bodyPr anchor="t" rtlCol="false" tIns="0" lIns="0" bIns="0" rIns="0">
              <a:spAutoFit/>
            </a:bodyPr>
            <a:lstStyle/>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A</a:t>
              </a:r>
              <a:r>
                <a:rPr lang="en-US" sz="3119" spc="124">
                  <a:solidFill>
                    <a:srgbClr val="000000"/>
                  </a:solidFill>
                  <a:latin typeface="Didact Gothic"/>
                  <a:ea typeface="Didact Gothic"/>
                  <a:cs typeface="Didact Gothic"/>
                  <a:sym typeface="Didact Gothic"/>
                </a:rPr>
                <a:t>rduino Uno</a:t>
              </a:r>
            </a:p>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MQ2 Smoke Sensor</a:t>
              </a:r>
            </a:p>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Flame Sensor</a:t>
              </a:r>
            </a:p>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GSM SIM900A Module</a:t>
              </a:r>
            </a:p>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Buzzer</a:t>
              </a:r>
            </a:p>
            <a:p>
              <a:pPr algn="l" marL="673605" indent="-336802" lvl="1">
                <a:lnSpc>
                  <a:spcPts val="4366"/>
                </a:lnSpc>
                <a:buAutoNum type="arabicPeriod" startAt="1"/>
              </a:pPr>
              <a:r>
                <a:rPr lang="en-US" sz="3119" spc="124">
                  <a:solidFill>
                    <a:srgbClr val="000000"/>
                  </a:solidFill>
                  <a:latin typeface="Didact Gothic"/>
                  <a:ea typeface="Didact Gothic"/>
                  <a:cs typeface="Didact Gothic"/>
                  <a:sym typeface="Didact Gothic"/>
                </a:rPr>
                <a:t>IP5306 Power Bank Module (for Arduino)</a:t>
              </a:r>
            </a:p>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IP5306 Power Bank Module (for GSM)</a:t>
              </a:r>
            </a:p>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1000µF Capacitor (for GSM power stabilization)</a:t>
              </a:r>
            </a:p>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Lithium-ion Battery</a:t>
              </a:r>
            </a:p>
            <a:p>
              <a:pPr algn="l" marL="673605" indent="-336802" lvl="1">
                <a:lnSpc>
                  <a:spcPts val="4364"/>
                </a:lnSpc>
                <a:buAutoNum type="arabicPeriod" startAt="1"/>
              </a:pPr>
              <a:r>
                <a:rPr lang="en-US" sz="3119" spc="124">
                  <a:solidFill>
                    <a:srgbClr val="000000"/>
                  </a:solidFill>
                  <a:latin typeface="Didact Gothic"/>
                  <a:ea typeface="Didact Gothic"/>
                  <a:cs typeface="Didact Gothic"/>
                  <a:sym typeface="Didact Gothic"/>
                </a:rPr>
                <a:t>Connecting Wires</a:t>
              </a:r>
            </a:p>
            <a:p>
              <a:pPr algn="l" marL="673605" indent="-336802" lvl="1">
                <a:lnSpc>
                  <a:spcPts val="5143"/>
                </a:lnSpc>
                <a:buAutoNum type="arabicPeriod" startAt="1"/>
              </a:pPr>
              <a:r>
                <a:rPr lang="en-US" sz="3119" spc="124">
                  <a:solidFill>
                    <a:srgbClr val="000000"/>
                  </a:solidFill>
                  <a:latin typeface="Didact Gothic"/>
                  <a:ea typeface="Didact Gothic"/>
                  <a:cs typeface="Didact Gothic"/>
                  <a:sym typeface="Didact Gothic"/>
                </a:rPr>
                <a:t>Breadboard</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751258" y="649287"/>
            <a:ext cx="17263232" cy="9986094"/>
            <a:chOff x="0" y="0"/>
            <a:chExt cx="23017642" cy="13314792"/>
          </a:xfrm>
        </p:grpSpPr>
        <p:sp>
          <p:nvSpPr>
            <p:cNvPr name="TextBox 3" id="3"/>
            <p:cNvSpPr txBox="true"/>
            <p:nvPr/>
          </p:nvSpPr>
          <p:spPr>
            <a:xfrm rot="0">
              <a:off x="0" y="-95250"/>
              <a:ext cx="9623501" cy="1107017"/>
            </a:xfrm>
            <a:prstGeom prst="rect">
              <a:avLst/>
            </a:prstGeom>
          </p:spPr>
          <p:txBody>
            <a:bodyPr anchor="t" rtlCol="false" tIns="0" lIns="0" bIns="0" rIns="0">
              <a:spAutoFit/>
            </a:bodyPr>
            <a:lstStyle/>
            <a:p>
              <a:pPr algn="l">
                <a:lnSpc>
                  <a:spcPts val="7000"/>
                </a:lnSpc>
              </a:pPr>
              <a:r>
                <a:rPr lang="en-US" b="true" sz="4999" spc="-125" u="sng">
                  <a:solidFill>
                    <a:srgbClr val="000000"/>
                  </a:solidFill>
                  <a:latin typeface="Cardo Bold"/>
                  <a:ea typeface="Cardo Bold"/>
                  <a:cs typeface="Cardo Bold"/>
                  <a:sym typeface="Cardo Bold"/>
                </a:rPr>
                <a:t>METHODOLOGY</a:t>
              </a:r>
            </a:p>
          </p:txBody>
        </p:sp>
        <p:sp>
          <p:nvSpPr>
            <p:cNvPr name="TextBox 4" id="4"/>
            <p:cNvSpPr txBox="true"/>
            <p:nvPr/>
          </p:nvSpPr>
          <p:spPr>
            <a:xfrm rot="0">
              <a:off x="22799837" y="12202409"/>
              <a:ext cx="217805" cy="333036"/>
            </a:xfrm>
            <a:prstGeom prst="rect">
              <a:avLst/>
            </a:prstGeom>
          </p:spPr>
          <p:txBody>
            <a:bodyPr anchor="t" rtlCol="false" tIns="0" lIns="0" bIns="0" rIns="0">
              <a:spAutoFit/>
            </a:bodyPr>
            <a:lstStyle/>
            <a:p>
              <a:pPr algn="ctr">
                <a:lnSpc>
                  <a:spcPts val="2113"/>
                </a:lnSpc>
              </a:pPr>
              <a:r>
                <a:rPr lang="en-US" sz="1509">
                  <a:solidFill>
                    <a:srgbClr val="000000"/>
                  </a:solidFill>
                  <a:latin typeface="Canva Sans"/>
                  <a:ea typeface="Canva Sans"/>
                  <a:cs typeface="Canva Sans"/>
                  <a:sym typeface="Canva Sans"/>
                </a:rPr>
                <a:t>6</a:t>
              </a:r>
            </a:p>
          </p:txBody>
        </p:sp>
        <p:sp>
          <p:nvSpPr>
            <p:cNvPr name="TextBox 5" id="5"/>
            <p:cNvSpPr txBox="true"/>
            <p:nvPr/>
          </p:nvSpPr>
          <p:spPr>
            <a:xfrm rot="0">
              <a:off x="0" y="1195897"/>
              <a:ext cx="22380646" cy="12118896"/>
            </a:xfrm>
            <a:prstGeom prst="rect">
              <a:avLst/>
            </a:prstGeom>
          </p:spPr>
          <p:txBody>
            <a:bodyPr anchor="t" rtlCol="false" tIns="0" lIns="0" bIns="0" rIns="0">
              <a:spAutoFit/>
            </a:bodyPr>
            <a:lstStyle/>
            <a:p>
              <a:pPr algn="just">
                <a:lnSpc>
                  <a:spcPts val="5106"/>
                </a:lnSpc>
              </a:pPr>
              <a:r>
                <a:rPr lang="en-US" sz="3649" spc="145">
                  <a:solidFill>
                    <a:srgbClr val="000000"/>
                  </a:solidFill>
                  <a:latin typeface="Didact Gothic"/>
                  <a:ea typeface="Didact Gothic"/>
                  <a:cs typeface="Didact Gothic"/>
                  <a:sym typeface="Didact Gothic"/>
                </a:rPr>
                <a:t>Th</a:t>
              </a:r>
              <a:r>
                <a:rPr lang="en-US" sz="3649" spc="145">
                  <a:solidFill>
                    <a:srgbClr val="000000"/>
                  </a:solidFill>
                  <a:latin typeface="Didact Gothic"/>
                  <a:ea typeface="Didact Gothic"/>
                  <a:cs typeface="Didact Gothic"/>
                  <a:sym typeface="Didact Gothic"/>
                </a:rPr>
                <a:t>e system is built using an Arduino Uno as the main controller to process data from an MQ2 Smoke Sensor and a Flame Sensor. A SIM900A GSM Module is used to send SMS and call alerts, while a buzzer provides immediate local warning. Separate power supply and a capacitor ensure stable operation. The system continuously monitors the environment and detects abnormal conditions.</a:t>
              </a:r>
            </a:p>
            <a:p>
              <a:pPr algn="just" marL="788032" indent="-394016" lvl="1">
                <a:lnSpc>
                  <a:spcPts val="5106"/>
                </a:lnSpc>
                <a:buFont typeface="Arial"/>
                <a:buChar char="•"/>
              </a:pPr>
              <a:r>
                <a:rPr lang="en-US" sz="3649" spc="145">
                  <a:solidFill>
                    <a:srgbClr val="000000"/>
                  </a:solidFill>
                  <a:latin typeface="Didact Gothic"/>
                  <a:ea typeface="Didact Gothic"/>
                  <a:cs typeface="Didact Gothic"/>
                  <a:sym typeface="Didact Gothic"/>
                </a:rPr>
                <a:t>Smoke detection (MQ2)</a:t>
              </a:r>
            </a:p>
            <a:p>
              <a:pPr algn="just" marL="788032" indent="-394016" lvl="1">
                <a:lnSpc>
                  <a:spcPts val="5106"/>
                </a:lnSpc>
                <a:buFont typeface="Arial"/>
                <a:buChar char="•"/>
              </a:pPr>
              <a:r>
                <a:rPr lang="en-US" sz="3649" spc="145">
                  <a:solidFill>
                    <a:srgbClr val="000000"/>
                  </a:solidFill>
                  <a:latin typeface="Didact Gothic"/>
                  <a:ea typeface="Didact Gothic"/>
                  <a:cs typeface="Didact Gothic"/>
                  <a:sym typeface="Didact Gothic"/>
                </a:rPr>
                <a:t>Flame detection (IR)</a:t>
              </a:r>
            </a:p>
            <a:p>
              <a:pPr algn="just" marL="788032" indent="-394016" lvl="1">
                <a:lnSpc>
                  <a:spcPts val="5106"/>
                </a:lnSpc>
                <a:buFont typeface="Arial"/>
                <a:buChar char="•"/>
              </a:pPr>
              <a:r>
                <a:rPr lang="en-US" sz="3649" spc="145">
                  <a:solidFill>
                    <a:srgbClr val="000000"/>
                  </a:solidFill>
                  <a:latin typeface="Didact Gothic"/>
                  <a:ea typeface="Didact Gothic"/>
                  <a:cs typeface="Didact Gothic"/>
                  <a:sym typeface="Didact Gothic"/>
                </a:rPr>
                <a:t>Continuous monitoring</a:t>
              </a:r>
            </a:p>
            <a:p>
              <a:pPr algn="just" marL="788032" indent="-394016" lvl="1">
                <a:lnSpc>
                  <a:spcPts val="5106"/>
                </a:lnSpc>
                <a:buFont typeface="Arial"/>
                <a:buChar char="•"/>
              </a:pPr>
              <a:r>
                <a:rPr lang="en-US" sz="3649" spc="145">
                  <a:solidFill>
                    <a:srgbClr val="000000"/>
                  </a:solidFill>
                  <a:latin typeface="Didact Gothic"/>
                  <a:ea typeface="Didact Gothic"/>
                  <a:cs typeface="Didact Gothic"/>
                  <a:sym typeface="Didact Gothic"/>
                </a:rPr>
                <a:t>Buzzer alert</a:t>
              </a:r>
            </a:p>
            <a:p>
              <a:pPr algn="just" marL="788032" indent="-394016" lvl="1">
                <a:lnSpc>
                  <a:spcPts val="5106"/>
                </a:lnSpc>
                <a:buFont typeface="Arial"/>
                <a:buChar char="•"/>
              </a:pPr>
              <a:r>
                <a:rPr lang="en-US" sz="3649" spc="145">
                  <a:solidFill>
                    <a:srgbClr val="000000"/>
                  </a:solidFill>
                  <a:latin typeface="Didact Gothic"/>
                  <a:ea typeface="Didact Gothic"/>
                  <a:cs typeface="Didact Gothic"/>
                  <a:sym typeface="Didact Gothic"/>
                </a:rPr>
                <a:t>SMS &amp; call alerts</a:t>
              </a:r>
            </a:p>
            <a:p>
              <a:pPr algn="just" marL="788032" indent="-394016" lvl="1">
                <a:lnSpc>
                  <a:spcPts val="5106"/>
                </a:lnSpc>
                <a:buFont typeface="Arial"/>
                <a:buChar char="•"/>
              </a:pPr>
              <a:r>
                <a:rPr lang="en-US" sz="3649" spc="145">
                  <a:solidFill>
                    <a:srgbClr val="000000"/>
                  </a:solidFill>
                  <a:latin typeface="Didact Gothic"/>
                  <a:ea typeface="Didact Gothic"/>
                  <a:cs typeface="Didact Gothic"/>
                  <a:sym typeface="Didact Gothic"/>
                </a:rPr>
                <a:t>N</a:t>
              </a:r>
              <a:r>
                <a:rPr lang="en-US" sz="3649" spc="145">
                  <a:solidFill>
                    <a:srgbClr val="000000"/>
                  </a:solidFill>
                  <a:latin typeface="Didact Gothic"/>
                  <a:ea typeface="Didact Gothic"/>
                  <a:cs typeface="Didact Gothic"/>
                  <a:sym typeface="Didact Gothic"/>
                </a:rPr>
                <a:t>o repeat alerts (flag)</a:t>
              </a:r>
            </a:p>
            <a:p>
              <a:pPr algn="just" marL="788032" indent="-394016" lvl="1">
                <a:lnSpc>
                  <a:spcPts val="5106"/>
                </a:lnSpc>
                <a:buFont typeface="Arial"/>
                <a:buChar char="•"/>
              </a:pPr>
              <a:r>
                <a:rPr lang="en-US" sz="3649" spc="145">
                  <a:solidFill>
                    <a:srgbClr val="000000"/>
                  </a:solidFill>
                  <a:latin typeface="Didact Gothic"/>
                  <a:ea typeface="Didact Gothic"/>
                  <a:cs typeface="Didact Gothic"/>
                  <a:sym typeface="Didact Gothic"/>
                </a:rPr>
                <a:t>Auto reset</a:t>
              </a:r>
            </a:p>
            <a:p>
              <a:pPr algn="just">
                <a:lnSpc>
                  <a:spcPts val="6017"/>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1028700" y="446857"/>
            <a:ext cx="16964281" cy="9579434"/>
            <a:chOff x="0" y="0"/>
            <a:chExt cx="22619041" cy="12772578"/>
          </a:xfrm>
        </p:grpSpPr>
        <p:sp>
          <p:nvSpPr>
            <p:cNvPr name="Freeform 3" id="3"/>
            <p:cNvSpPr/>
            <p:nvPr/>
          </p:nvSpPr>
          <p:spPr>
            <a:xfrm flipH="false" flipV="false" rot="0">
              <a:off x="13987066" y="557811"/>
              <a:ext cx="7092570" cy="11190781"/>
            </a:xfrm>
            <a:custGeom>
              <a:avLst/>
              <a:gdLst/>
              <a:ahLst/>
              <a:cxnLst/>
              <a:rect r="r" b="b" t="t" l="l"/>
              <a:pathLst>
                <a:path h="11190781" w="7092570">
                  <a:moveTo>
                    <a:pt x="0" y="0"/>
                  </a:moveTo>
                  <a:lnTo>
                    <a:pt x="7092571" y="0"/>
                  </a:lnTo>
                  <a:lnTo>
                    <a:pt x="7092571" y="11190780"/>
                  </a:lnTo>
                  <a:lnTo>
                    <a:pt x="0" y="11190780"/>
                  </a:lnTo>
                  <a:lnTo>
                    <a:pt x="0" y="0"/>
                  </a:lnTo>
                  <a:close/>
                </a:path>
              </a:pathLst>
            </a:custGeom>
            <a:blipFill>
              <a:blip r:embed="rId2"/>
              <a:stretch>
                <a:fillRect l="-20957" t="-17412" r="-23002" b="-11662"/>
              </a:stretch>
            </a:blipFill>
          </p:spPr>
        </p:sp>
        <p:sp>
          <p:nvSpPr>
            <p:cNvPr name="TextBox 4" id="4"/>
            <p:cNvSpPr txBox="true"/>
            <p:nvPr/>
          </p:nvSpPr>
          <p:spPr>
            <a:xfrm rot="0">
              <a:off x="22452036" y="12439542"/>
              <a:ext cx="167005" cy="333036"/>
            </a:xfrm>
            <a:prstGeom prst="rect">
              <a:avLst/>
            </a:prstGeom>
          </p:spPr>
          <p:txBody>
            <a:bodyPr anchor="t" rtlCol="false" tIns="0" lIns="0" bIns="0" rIns="0">
              <a:spAutoFit/>
            </a:bodyPr>
            <a:lstStyle/>
            <a:p>
              <a:pPr algn="ctr">
                <a:lnSpc>
                  <a:spcPts val="2113"/>
                </a:lnSpc>
              </a:pPr>
              <a:r>
                <a:rPr lang="en-US" sz="1509">
                  <a:solidFill>
                    <a:srgbClr val="000000"/>
                  </a:solidFill>
                  <a:latin typeface="Canva Sans"/>
                  <a:ea typeface="Canva Sans"/>
                  <a:cs typeface="Canva Sans"/>
                  <a:sym typeface="Canva Sans"/>
                </a:rPr>
                <a:t>7</a:t>
              </a:r>
            </a:p>
          </p:txBody>
        </p:sp>
        <p:sp>
          <p:nvSpPr>
            <p:cNvPr name="TextBox 5" id="5"/>
            <p:cNvSpPr txBox="true"/>
            <p:nvPr/>
          </p:nvSpPr>
          <p:spPr>
            <a:xfrm rot="0">
              <a:off x="0" y="-95250"/>
              <a:ext cx="9623501" cy="1107017"/>
            </a:xfrm>
            <a:prstGeom prst="rect">
              <a:avLst/>
            </a:prstGeom>
          </p:spPr>
          <p:txBody>
            <a:bodyPr anchor="t" rtlCol="false" tIns="0" lIns="0" bIns="0" rIns="0">
              <a:spAutoFit/>
            </a:bodyPr>
            <a:lstStyle/>
            <a:p>
              <a:pPr algn="l">
                <a:lnSpc>
                  <a:spcPts val="7000"/>
                </a:lnSpc>
              </a:pPr>
              <a:r>
                <a:rPr lang="en-US" b="true" sz="4999" spc="-125" u="sng">
                  <a:solidFill>
                    <a:srgbClr val="000000"/>
                  </a:solidFill>
                  <a:latin typeface="Cardo Bold"/>
                  <a:ea typeface="Cardo Bold"/>
                  <a:cs typeface="Cardo Bold"/>
                  <a:sym typeface="Cardo Bold"/>
                </a:rPr>
                <a:t>WORKING</a:t>
              </a:r>
            </a:p>
          </p:txBody>
        </p:sp>
        <p:sp>
          <p:nvSpPr>
            <p:cNvPr name="TextBox 6" id="6"/>
            <p:cNvSpPr txBox="true"/>
            <p:nvPr/>
          </p:nvSpPr>
          <p:spPr>
            <a:xfrm rot="0">
              <a:off x="0" y="1594400"/>
              <a:ext cx="13462769" cy="9259383"/>
            </a:xfrm>
            <a:prstGeom prst="rect">
              <a:avLst/>
            </a:prstGeom>
          </p:spPr>
          <p:txBody>
            <a:bodyPr anchor="t" rtlCol="false" tIns="0" lIns="0" bIns="0" rIns="0">
              <a:spAutoFit/>
            </a:bodyPr>
            <a:lstStyle/>
            <a:p>
              <a:pPr algn="l" marL="843278" indent="-421639" lvl="1">
                <a:lnSpc>
                  <a:spcPts val="5464"/>
                </a:lnSpc>
                <a:buFont typeface="Arial"/>
                <a:buChar char="•"/>
              </a:pPr>
              <a:r>
                <a:rPr lang="en-US" sz="3905" spc="156">
                  <a:solidFill>
                    <a:srgbClr val="000000"/>
                  </a:solidFill>
                  <a:latin typeface="Didact Gothic"/>
                  <a:ea typeface="Didact Gothic"/>
                  <a:cs typeface="Didact Gothic"/>
                  <a:sym typeface="Didact Gothic"/>
                </a:rPr>
                <a:t>Syst</a:t>
              </a:r>
              <a:r>
                <a:rPr lang="en-US" sz="3905" spc="156">
                  <a:solidFill>
                    <a:srgbClr val="000000"/>
                  </a:solidFill>
                  <a:latin typeface="Didact Gothic"/>
                  <a:ea typeface="Didact Gothic"/>
                  <a:cs typeface="Didact Gothic"/>
                  <a:sym typeface="Didact Gothic"/>
                </a:rPr>
                <a:t>em starts and initializes all modules</a:t>
              </a:r>
            </a:p>
            <a:p>
              <a:pPr algn="l" marL="843278" indent="-421639" lvl="1">
                <a:lnSpc>
                  <a:spcPts val="5464"/>
                </a:lnSpc>
                <a:buFont typeface="Arial"/>
                <a:buChar char="•"/>
              </a:pPr>
              <a:r>
                <a:rPr lang="en-US" sz="3905" spc="156">
                  <a:solidFill>
                    <a:srgbClr val="000000"/>
                  </a:solidFill>
                  <a:latin typeface="Didact Gothic"/>
                  <a:ea typeface="Didact Gothic"/>
                  <a:cs typeface="Didact Gothic"/>
                  <a:sym typeface="Didact Gothic"/>
                </a:rPr>
                <a:t>Sensors continuously monitor smoke and flame</a:t>
              </a:r>
            </a:p>
            <a:p>
              <a:pPr algn="l" marL="843278" indent="-421639" lvl="1">
                <a:lnSpc>
                  <a:spcPts val="5464"/>
                </a:lnSpc>
                <a:buFont typeface="Arial"/>
                <a:buChar char="•"/>
              </a:pPr>
              <a:r>
                <a:rPr lang="en-US" sz="3905" spc="156">
                  <a:solidFill>
                    <a:srgbClr val="000000"/>
                  </a:solidFill>
                  <a:latin typeface="Didact Gothic"/>
                  <a:ea typeface="Didact Gothic"/>
                  <a:cs typeface="Didact Gothic"/>
                  <a:sym typeface="Didact Gothic"/>
                </a:rPr>
                <a:t>Arduino checks for abnormal conditions</a:t>
              </a:r>
            </a:p>
            <a:p>
              <a:pPr algn="l" marL="843278" indent="-421639" lvl="1">
                <a:lnSpc>
                  <a:spcPts val="5464"/>
                </a:lnSpc>
                <a:buFont typeface="Arial"/>
                <a:buChar char="•"/>
              </a:pPr>
              <a:r>
                <a:rPr lang="en-US" sz="3905" spc="156">
                  <a:solidFill>
                    <a:srgbClr val="000000"/>
                  </a:solidFill>
                  <a:latin typeface="Didact Gothic"/>
                  <a:ea typeface="Didact Gothic"/>
                  <a:cs typeface="Didact Gothic"/>
                  <a:sym typeface="Didact Gothic"/>
                </a:rPr>
                <a:t>If detected, buzzer gives alert</a:t>
              </a:r>
            </a:p>
            <a:p>
              <a:pPr algn="l" marL="843278" indent="-421639" lvl="1">
                <a:lnSpc>
                  <a:spcPts val="5464"/>
                </a:lnSpc>
                <a:buFont typeface="Arial"/>
                <a:buChar char="•"/>
              </a:pPr>
              <a:r>
                <a:rPr lang="en-US" sz="3905" spc="156">
                  <a:solidFill>
                    <a:srgbClr val="000000"/>
                  </a:solidFill>
                  <a:latin typeface="Didact Gothic"/>
                  <a:ea typeface="Didact Gothic"/>
                  <a:cs typeface="Didact Gothic"/>
                  <a:sym typeface="Didact Gothic"/>
                </a:rPr>
                <a:t>GSM module sends SMS and call</a:t>
              </a:r>
            </a:p>
            <a:p>
              <a:pPr algn="l" marL="843278" indent="-421639" lvl="1">
                <a:lnSpc>
                  <a:spcPts val="5464"/>
                </a:lnSpc>
                <a:buFont typeface="Arial"/>
                <a:buChar char="•"/>
              </a:pPr>
              <a:r>
                <a:rPr lang="en-US" sz="3905" spc="156">
                  <a:solidFill>
                    <a:srgbClr val="000000"/>
                  </a:solidFill>
                  <a:latin typeface="Didact Gothic"/>
                  <a:ea typeface="Didact Gothic"/>
                  <a:cs typeface="Didact Gothic"/>
                  <a:sym typeface="Didact Gothic"/>
                </a:rPr>
                <a:t>System avoids repeated alerts using flag</a:t>
              </a:r>
            </a:p>
            <a:p>
              <a:pPr algn="l" marL="843278" indent="-421639" lvl="1">
                <a:lnSpc>
                  <a:spcPts val="5464"/>
                </a:lnSpc>
                <a:buFont typeface="Arial"/>
                <a:buChar char="•"/>
              </a:pPr>
              <a:r>
                <a:rPr lang="en-US" sz="3905" spc="156">
                  <a:solidFill>
                    <a:srgbClr val="000000"/>
                  </a:solidFill>
                  <a:latin typeface="Didact Gothic"/>
                  <a:ea typeface="Didact Gothic"/>
                  <a:cs typeface="Didact Gothic"/>
                  <a:sym typeface="Didact Gothic"/>
                </a:rPr>
                <a:t>Resets after condition becomes normal</a:t>
              </a:r>
            </a:p>
            <a:p>
              <a:pPr algn="l">
                <a:lnSpc>
                  <a:spcPts val="6438"/>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520128" y="392022"/>
            <a:ext cx="18569078" cy="9705088"/>
            <a:chOff x="0" y="0"/>
            <a:chExt cx="24758771" cy="12940117"/>
          </a:xfrm>
        </p:grpSpPr>
        <p:sp>
          <p:nvSpPr>
            <p:cNvPr name="TextBox 3" id="3"/>
            <p:cNvSpPr txBox="true"/>
            <p:nvPr/>
          </p:nvSpPr>
          <p:spPr>
            <a:xfrm rot="0">
              <a:off x="2268304" y="190587"/>
              <a:ext cx="9623501" cy="1097492"/>
            </a:xfrm>
            <a:prstGeom prst="rect">
              <a:avLst/>
            </a:prstGeom>
          </p:spPr>
          <p:txBody>
            <a:bodyPr anchor="t" rtlCol="false" tIns="0" lIns="0" bIns="0" rIns="0">
              <a:spAutoFit/>
            </a:bodyPr>
            <a:lstStyle/>
            <a:p>
              <a:pPr algn="l">
                <a:lnSpc>
                  <a:spcPts val="6999"/>
                </a:lnSpc>
              </a:pPr>
              <a:r>
                <a:rPr lang="en-US" b="true" sz="4999" spc="-124" u="sng">
                  <a:solidFill>
                    <a:srgbClr val="000000"/>
                  </a:solidFill>
                  <a:latin typeface="Cardo Bold"/>
                  <a:ea typeface="Cardo Bold"/>
                  <a:cs typeface="Cardo Bold"/>
                  <a:sym typeface="Cardo Bold"/>
                </a:rPr>
                <a:t>CIRCUIT DIAGRAM</a:t>
              </a:r>
            </a:p>
          </p:txBody>
        </p:sp>
        <p:sp>
          <p:nvSpPr>
            <p:cNvPr name="TextBox 4" id="4"/>
            <p:cNvSpPr txBox="true"/>
            <p:nvPr/>
          </p:nvSpPr>
          <p:spPr>
            <a:xfrm rot="0">
              <a:off x="24553065" y="12507259"/>
              <a:ext cx="205706" cy="333018"/>
            </a:xfrm>
            <a:prstGeom prst="rect">
              <a:avLst/>
            </a:prstGeom>
          </p:spPr>
          <p:txBody>
            <a:bodyPr anchor="t" rtlCol="false" tIns="0" lIns="0" bIns="0" rIns="0">
              <a:spAutoFit/>
            </a:bodyPr>
            <a:lstStyle/>
            <a:p>
              <a:pPr algn="ctr">
                <a:lnSpc>
                  <a:spcPts val="2114"/>
                </a:lnSpc>
              </a:pPr>
              <a:r>
                <a:rPr lang="en-US" sz="1510">
                  <a:solidFill>
                    <a:srgbClr val="000000"/>
                  </a:solidFill>
                  <a:latin typeface="Canva Sans"/>
                  <a:ea typeface="Canva Sans"/>
                  <a:cs typeface="Canva Sans"/>
                  <a:sym typeface="Canva Sans"/>
                </a:rPr>
                <a:t>8</a:t>
              </a:r>
            </a:p>
          </p:txBody>
        </p:sp>
        <p:grpSp>
          <p:nvGrpSpPr>
            <p:cNvPr name="Group 5" id="5"/>
            <p:cNvGrpSpPr/>
            <p:nvPr/>
          </p:nvGrpSpPr>
          <p:grpSpPr>
            <a:xfrm rot="0">
              <a:off x="2272007" y="6284789"/>
              <a:ext cx="12255658" cy="6067859"/>
              <a:chOff x="0" y="0"/>
              <a:chExt cx="12851168" cy="6362700"/>
            </a:xfrm>
          </p:grpSpPr>
          <p:sp>
            <p:nvSpPr>
              <p:cNvPr name="Freeform 6" id="6"/>
              <p:cNvSpPr/>
              <p:nvPr/>
            </p:nvSpPr>
            <p:spPr>
              <a:xfrm flipH="false" flipV="false" rot="0">
                <a:off x="0" y="0"/>
                <a:ext cx="12851130" cy="6362700"/>
              </a:xfrm>
              <a:custGeom>
                <a:avLst/>
                <a:gdLst/>
                <a:ahLst/>
                <a:cxnLst/>
                <a:rect r="r" b="b" t="t" l="l"/>
                <a:pathLst>
                  <a:path h="6362700" w="12851130">
                    <a:moveTo>
                      <a:pt x="0" y="0"/>
                    </a:moveTo>
                    <a:lnTo>
                      <a:pt x="12851130" y="0"/>
                    </a:lnTo>
                    <a:lnTo>
                      <a:pt x="12851130" y="6362700"/>
                    </a:lnTo>
                    <a:lnTo>
                      <a:pt x="0" y="6362700"/>
                    </a:lnTo>
                    <a:lnTo>
                      <a:pt x="0" y="0"/>
                    </a:lnTo>
                    <a:close/>
                  </a:path>
                </a:pathLst>
              </a:custGeom>
              <a:blipFill>
                <a:blip r:embed="rId2"/>
                <a:stretch>
                  <a:fillRect l="0" t="0" r="0" b="0"/>
                </a:stretch>
              </a:blipFill>
            </p:spPr>
          </p:sp>
        </p:grpSp>
        <p:grpSp>
          <p:nvGrpSpPr>
            <p:cNvPr name="Group 7" id="7"/>
            <p:cNvGrpSpPr/>
            <p:nvPr/>
          </p:nvGrpSpPr>
          <p:grpSpPr>
            <a:xfrm rot="5400000">
              <a:off x="6215147" y="1818361"/>
              <a:ext cx="3815121" cy="3815121"/>
              <a:chOff x="0" y="0"/>
              <a:chExt cx="4000500" cy="4000500"/>
            </a:xfrm>
          </p:grpSpPr>
          <p:sp>
            <p:nvSpPr>
              <p:cNvPr name="Freeform 8" id="8"/>
              <p:cNvSpPr/>
              <p:nvPr/>
            </p:nvSpPr>
            <p:spPr>
              <a:xfrm flipH="false" flipV="false" rot="0">
                <a:off x="0" y="0"/>
                <a:ext cx="4000500" cy="4000500"/>
              </a:xfrm>
              <a:custGeom>
                <a:avLst/>
                <a:gdLst/>
                <a:ahLst/>
                <a:cxnLst/>
                <a:rect r="r" b="b" t="t" l="l"/>
                <a:pathLst>
                  <a:path h="4000500" w="4000500">
                    <a:moveTo>
                      <a:pt x="0" y="0"/>
                    </a:moveTo>
                    <a:lnTo>
                      <a:pt x="4000500" y="0"/>
                    </a:lnTo>
                    <a:lnTo>
                      <a:pt x="4000500" y="4000500"/>
                    </a:lnTo>
                    <a:lnTo>
                      <a:pt x="0" y="4000500"/>
                    </a:lnTo>
                    <a:lnTo>
                      <a:pt x="0" y="0"/>
                    </a:lnTo>
                    <a:close/>
                  </a:path>
                </a:pathLst>
              </a:custGeom>
              <a:blipFill>
                <a:blip r:embed="rId3"/>
                <a:stretch>
                  <a:fillRect l="0" t="0" r="0" b="0"/>
                </a:stretch>
              </a:blipFill>
            </p:spPr>
          </p:sp>
        </p:grpSp>
        <p:grpSp>
          <p:nvGrpSpPr>
            <p:cNvPr name="Group 9" id="9"/>
            <p:cNvGrpSpPr/>
            <p:nvPr/>
          </p:nvGrpSpPr>
          <p:grpSpPr>
            <a:xfrm rot="5400000">
              <a:off x="8417392" y="2370669"/>
              <a:ext cx="4214800" cy="2700863"/>
              <a:chOff x="0" y="0"/>
              <a:chExt cx="4419600" cy="2832100"/>
            </a:xfrm>
          </p:grpSpPr>
          <p:sp>
            <p:nvSpPr>
              <p:cNvPr name="Freeform 10" id="10"/>
              <p:cNvSpPr/>
              <p:nvPr/>
            </p:nvSpPr>
            <p:spPr>
              <a:xfrm flipH="false" flipV="false" rot="0">
                <a:off x="0" y="0"/>
                <a:ext cx="4419600" cy="2832100"/>
              </a:xfrm>
              <a:custGeom>
                <a:avLst/>
                <a:gdLst/>
                <a:ahLst/>
                <a:cxnLst/>
                <a:rect r="r" b="b" t="t" l="l"/>
                <a:pathLst>
                  <a:path h="2832100" w="4419600">
                    <a:moveTo>
                      <a:pt x="0" y="0"/>
                    </a:moveTo>
                    <a:lnTo>
                      <a:pt x="4419600" y="0"/>
                    </a:lnTo>
                    <a:lnTo>
                      <a:pt x="4419600" y="2832100"/>
                    </a:lnTo>
                    <a:lnTo>
                      <a:pt x="0" y="2832100"/>
                    </a:lnTo>
                    <a:lnTo>
                      <a:pt x="0" y="0"/>
                    </a:lnTo>
                    <a:close/>
                  </a:path>
                </a:pathLst>
              </a:custGeom>
              <a:blipFill>
                <a:blip r:embed="rId4"/>
                <a:stretch>
                  <a:fillRect l="0" t="0" r="0" b="0"/>
                </a:stretch>
              </a:blipFill>
            </p:spPr>
          </p:sp>
        </p:grpSp>
        <p:sp>
          <p:nvSpPr>
            <p:cNvPr name="Freeform 11" id="11"/>
            <p:cNvSpPr/>
            <p:nvPr/>
          </p:nvSpPr>
          <p:spPr>
            <a:xfrm flipH="false" flipV="false" rot="0">
              <a:off x="2166989" y="5007547"/>
              <a:ext cx="10587033" cy="6949019"/>
            </a:xfrm>
            <a:custGeom>
              <a:avLst/>
              <a:gdLst/>
              <a:ahLst/>
              <a:cxnLst/>
              <a:rect r="r" b="b" t="t" l="l"/>
              <a:pathLst>
                <a:path h="6949019" w="10587033">
                  <a:moveTo>
                    <a:pt x="0" y="0"/>
                  </a:moveTo>
                  <a:lnTo>
                    <a:pt x="10587033" y="0"/>
                  </a:lnTo>
                  <a:lnTo>
                    <a:pt x="10587033" y="6949019"/>
                  </a:lnTo>
                  <a:lnTo>
                    <a:pt x="0" y="69490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5130223" y="2749105"/>
              <a:ext cx="1925728" cy="1949951"/>
              <a:chOff x="0" y="0"/>
              <a:chExt cx="2019300" cy="2044700"/>
            </a:xfrm>
          </p:grpSpPr>
          <p:sp>
            <p:nvSpPr>
              <p:cNvPr name="Freeform 13" id="13"/>
              <p:cNvSpPr/>
              <p:nvPr/>
            </p:nvSpPr>
            <p:spPr>
              <a:xfrm flipH="false" flipV="false" rot="0">
                <a:off x="0" y="0"/>
                <a:ext cx="2019300" cy="2044700"/>
              </a:xfrm>
              <a:custGeom>
                <a:avLst/>
                <a:gdLst/>
                <a:ahLst/>
                <a:cxnLst/>
                <a:rect r="r" b="b" t="t" l="l"/>
                <a:pathLst>
                  <a:path h="2044700" w="2019300">
                    <a:moveTo>
                      <a:pt x="0" y="0"/>
                    </a:moveTo>
                    <a:lnTo>
                      <a:pt x="2019300" y="0"/>
                    </a:lnTo>
                    <a:lnTo>
                      <a:pt x="2019300" y="2044700"/>
                    </a:lnTo>
                    <a:lnTo>
                      <a:pt x="0" y="2044700"/>
                    </a:lnTo>
                    <a:lnTo>
                      <a:pt x="0" y="0"/>
                    </a:lnTo>
                    <a:close/>
                  </a:path>
                </a:pathLst>
              </a:custGeom>
              <a:blipFill>
                <a:blip r:embed="rId7"/>
                <a:stretch>
                  <a:fillRect l="0" t="0" r="0" b="0"/>
                </a:stretch>
              </a:blipFill>
            </p:spPr>
          </p:sp>
        </p:grpSp>
        <p:sp>
          <p:nvSpPr>
            <p:cNvPr name="Freeform 14" id="14"/>
            <p:cNvSpPr/>
            <p:nvPr/>
          </p:nvSpPr>
          <p:spPr>
            <a:xfrm flipH="false" flipV="false" rot="0">
              <a:off x="0" y="2583093"/>
              <a:ext cx="15916115" cy="9373473"/>
            </a:xfrm>
            <a:custGeom>
              <a:avLst/>
              <a:gdLst/>
              <a:ahLst/>
              <a:cxnLst/>
              <a:rect r="r" b="b" t="t" l="l"/>
              <a:pathLst>
                <a:path h="9373473" w="15916115">
                  <a:moveTo>
                    <a:pt x="0" y="0"/>
                  </a:moveTo>
                  <a:lnTo>
                    <a:pt x="15916115" y="0"/>
                  </a:lnTo>
                  <a:lnTo>
                    <a:pt x="15916115" y="9373473"/>
                  </a:lnTo>
                  <a:lnTo>
                    <a:pt x="0" y="93734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5400000">
              <a:off x="17634182" y="61298"/>
              <a:ext cx="4456369" cy="4333772"/>
              <a:chOff x="0" y="0"/>
              <a:chExt cx="5727548" cy="5569980"/>
            </a:xfrm>
          </p:grpSpPr>
          <p:sp>
            <p:nvSpPr>
              <p:cNvPr name="Freeform 16" id="16"/>
              <p:cNvSpPr/>
              <p:nvPr/>
            </p:nvSpPr>
            <p:spPr>
              <a:xfrm flipH="false" flipV="false" rot="0">
                <a:off x="0" y="0"/>
                <a:ext cx="5727573" cy="5569948"/>
              </a:xfrm>
              <a:custGeom>
                <a:avLst/>
                <a:gdLst/>
                <a:ahLst/>
                <a:cxnLst/>
                <a:rect r="r" b="b" t="t" l="l"/>
                <a:pathLst>
                  <a:path h="5569948" w="5727573">
                    <a:moveTo>
                      <a:pt x="0" y="0"/>
                    </a:moveTo>
                    <a:lnTo>
                      <a:pt x="5727573" y="0"/>
                    </a:lnTo>
                    <a:lnTo>
                      <a:pt x="5727573" y="5569948"/>
                    </a:lnTo>
                    <a:lnTo>
                      <a:pt x="0" y="5569948"/>
                    </a:lnTo>
                    <a:lnTo>
                      <a:pt x="0" y="0"/>
                    </a:lnTo>
                    <a:close/>
                  </a:path>
                </a:pathLst>
              </a:custGeom>
              <a:blipFill>
                <a:blip r:embed="rId10"/>
                <a:stretch>
                  <a:fillRect l="-13010" t="0" r="-13009" b="0"/>
                </a:stretch>
              </a:blipFill>
            </p:spPr>
          </p:sp>
        </p:grpSp>
        <p:grpSp>
          <p:nvGrpSpPr>
            <p:cNvPr name="Group 17" id="17"/>
            <p:cNvGrpSpPr/>
            <p:nvPr/>
          </p:nvGrpSpPr>
          <p:grpSpPr>
            <a:xfrm rot="-5400000">
              <a:off x="14599239" y="1213106"/>
              <a:ext cx="2187483" cy="2346390"/>
              <a:chOff x="0" y="0"/>
              <a:chExt cx="2811462" cy="3015698"/>
            </a:xfrm>
          </p:grpSpPr>
          <p:sp>
            <p:nvSpPr>
              <p:cNvPr name="Freeform 18" id="18"/>
              <p:cNvSpPr/>
              <p:nvPr/>
            </p:nvSpPr>
            <p:spPr>
              <a:xfrm flipH="false" flipV="false" rot="0">
                <a:off x="0" y="0"/>
                <a:ext cx="2811526" cy="3015748"/>
              </a:xfrm>
              <a:custGeom>
                <a:avLst/>
                <a:gdLst/>
                <a:ahLst/>
                <a:cxnLst/>
                <a:rect r="r" b="b" t="t" l="l"/>
                <a:pathLst>
                  <a:path h="3015748" w="2811526">
                    <a:moveTo>
                      <a:pt x="0" y="0"/>
                    </a:moveTo>
                    <a:lnTo>
                      <a:pt x="2811526" y="0"/>
                    </a:lnTo>
                    <a:lnTo>
                      <a:pt x="2811526" y="3015748"/>
                    </a:lnTo>
                    <a:lnTo>
                      <a:pt x="0" y="3015748"/>
                    </a:lnTo>
                    <a:lnTo>
                      <a:pt x="0" y="0"/>
                    </a:lnTo>
                    <a:close/>
                  </a:path>
                </a:pathLst>
              </a:custGeom>
              <a:blipFill>
                <a:blip r:embed="rId11"/>
                <a:stretch>
                  <a:fillRect l="-11467" t="0" r="-11465" b="-33798"/>
                </a:stretch>
              </a:blipFill>
            </p:spPr>
          </p:sp>
        </p:grpSp>
        <p:grpSp>
          <p:nvGrpSpPr>
            <p:cNvPr name="Group 19" id="19"/>
            <p:cNvGrpSpPr/>
            <p:nvPr/>
          </p:nvGrpSpPr>
          <p:grpSpPr>
            <a:xfrm rot="-7732440">
              <a:off x="14690063" y="3094155"/>
              <a:ext cx="1796706" cy="2556643"/>
              <a:chOff x="0" y="0"/>
              <a:chExt cx="2309216" cy="3285925"/>
            </a:xfrm>
          </p:grpSpPr>
          <p:sp>
            <p:nvSpPr>
              <p:cNvPr name="Freeform 20" id="20"/>
              <p:cNvSpPr/>
              <p:nvPr/>
            </p:nvSpPr>
            <p:spPr>
              <a:xfrm flipH="false" flipV="false" rot="0">
                <a:off x="0" y="0"/>
                <a:ext cx="2309241" cy="3285849"/>
              </a:xfrm>
              <a:custGeom>
                <a:avLst/>
                <a:gdLst/>
                <a:ahLst/>
                <a:cxnLst/>
                <a:rect r="r" b="b" t="t" l="l"/>
                <a:pathLst>
                  <a:path h="3285849" w="2309241">
                    <a:moveTo>
                      <a:pt x="0" y="3285849"/>
                    </a:moveTo>
                    <a:lnTo>
                      <a:pt x="2309241" y="3285849"/>
                    </a:lnTo>
                    <a:lnTo>
                      <a:pt x="2309241" y="0"/>
                    </a:lnTo>
                    <a:lnTo>
                      <a:pt x="0" y="0"/>
                    </a:lnTo>
                    <a:lnTo>
                      <a:pt x="0" y="3285849"/>
                    </a:lnTo>
                    <a:close/>
                  </a:path>
                </a:pathLst>
              </a:custGeom>
              <a:blipFill>
                <a:blip r:embed="rId12"/>
                <a:stretch>
                  <a:fillRect l="-20721" t="0" r="-9635" b="-16295"/>
                </a:stretch>
              </a:blipFill>
            </p:spPr>
          </p:sp>
        </p:grpSp>
        <p:grpSp>
          <p:nvGrpSpPr>
            <p:cNvPr name="Group 21" id="21"/>
            <p:cNvGrpSpPr/>
            <p:nvPr/>
          </p:nvGrpSpPr>
          <p:grpSpPr>
            <a:xfrm rot="5400000">
              <a:off x="18158211" y="-1500357"/>
              <a:ext cx="1689345" cy="5143850"/>
              <a:chOff x="0" y="0"/>
              <a:chExt cx="1628419" cy="4958346"/>
            </a:xfrm>
          </p:grpSpPr>
          <p:sp>
            <p:nvSpPr>
              <p:cNvPr name="Freeform 22" id="22"/>
              <p:cNvSpPr/>
              <p:nvPr/>
            </p:nvSpPr>
            <p:spPr>
              <a:xfrm flipH="false" flipV="false" rot="0">
                <a:off x="0" y="0"/>
                <a:ext cx="1628391" cy="4958251"/>
              </a:xfrm>
              <a:custGeom>
                <a:avLst/>
                <a:gdLst/>
                <a:ahLst/>
                <a:cxnLst/>
                <a:rect r="r" b="b" t="t" l="l"/>
                <a:pathLst>
                  <a:path h="4958251" w="1628391">
                    <a:moveTo>
                      <a:pt x="1589148" y="201819"/>
                    </a:moveTo>
                    <a:lnTo>
                      <a:pt x="1589148" y="113313"/>
                    </a:lnTo>
                    <a:lnTo>
                      <a:pt x="1608706" y="113313"/>
                    </a:lnTo>
                    <a:lnTo>
                      <a:pt x="1589148" y="113313"/>
                    </a:lnTo>
                    <a:cubicBezTo>
                      <a:pt x="1589148" y="96348"/>
                      <a:pt x="1583814" y="80183"/>
                      <a:pt x="1574289" y="68180"/>
                    </a:cubicBezTo>
                    <a:cubicBezTo>
                      <a:pt x="1564764" y="56176"/>
                      <a:pt x="1551937" y="49454"/>
                      <a:pt x="1538475" y="49454"/>
                    </a:cubicBezTo>
                    <a:lnTo>
                      <a:pt x="1538475" y="24647"/>
                    </a:lnTo>
                    <a:lnTo>
                      <a:pt x="1538475" y="49454"/>
                    </a:lnTo>
                    <a:lnTo>
                      <a:pt x="255016" y="49454"/>
                    </a:lnTo>
                    <a:lnTo>
                      <a:pt x="255016" y="24647"/>
                    </a:lnTo>
                    <a:lnTo>
                      <a:pt x="255016" y="49454"/>
                    </a:lnTo>
                    <a:cubicBezTo>
                      <a:pt x="135890" y="49454"/>
                      <a:pt x="39243" y="171250"/>
                      <a:pt x="39243" y="321374"/>
                    </a:cubicBezTo>
                    <a:lnTo>
                      <a:pt x="19558" y="321374"/>
                    </a:lnTo>
                    <a:lnTo>
                      <a:pt x="39243" y="321374"/>
                    </a:lnTo>
                    <a:lnTo>
                      <a:pt x="39243" y="4258046"/>
                    </a:lnTo>
                    <a:lnTo>
                      <a:pt x="19558" y="4258046"/>
                    </a:lnTo>
                    <a:lnTo>
                      <a:pt x="39243" y="4258046"/>
                    </a:lnTo>
                    <a:cubicBezTo>
                      <a:pt x="39243" y="4408170"/>
                      <a:pt x="135890" y="4529966"/>
                      <a:pt x="255016" y="4529966"/>
                    </a:cubicBezTo>
                    <a:lnTo>
                      <a:pt x="255016" y="4554613"/>
                    </a:lnTo>
                    <a:lnTo>
                      <a:pt x="255016" y="4529966"/>
                    </a:lnTo>
                    <a:lnTo>
                      <a:pt x="1458466" y="4529966"/>
                    </a:lnTo>
                    <a:lnTo>
                      <a:pt x="1458466" y="4554613"/>
                    </a:lnTo>
                    <a:lnTo>
                      <a:pt x="1458466" y="4529966"/>
                    </a:lnTo>
                    <a:cubicBezTo>
                      <a:pt x="1552318" y="4529966"/>
                      <a:pt x="1628391" y="4625834"/>
                      <a:pt x="1628391" y="4744108"/>
                    </a:cubicBezTo>
                    <a:lnTo>
                      <a:pt x="1608833" y="4744108"/>
                    </a:lnTo>
                    <a:lnTo>
                      <a:pt x="1628391" y="4744108"/>
                    </a:lnTo>
                    <a:lnTo>
                      <a:pt x="1628391" y="4933604"/>
                    </a:lnTo>
                    <a:cubicBezTo>
                      <a:pt x="1628391" y="4947208"/>
                      <a:pt x="1619628" y="4958251"/>
                      <a:pt x="1608833" y="4958251"/>
                    </a:cubicBezTo>
                    <a:cubicBezTo>
                      <a:pt x="1598038" y="4958251"/>
                      <a:pt x="1589275" y="4947208"/>
                      <a:pt x="1589275" y="4933604"/>
                    </a:cubicBezTo>
                    <a:lnTo>
                      <a:pt x="1589275" y="4744109"/>
                    </a:lnTo>
                    <a:cubicBezTo>
                      <a:pt x="1589275" y="4653042"/>
                      <a:pt x="1530728" y="4579421"/>
                      <a:pt x="1458593" y="4579421"/>
                    </a:cubicBezTo>
                    <a:lnTo>
                      <a:pt x="255016" y="4579421"/>
                    </a:lnTo>
                    <a:cubicBezTo>
                      <a:pt x="114173" y="4579421"/>
                      <a:pt x="0" y="4435539"/>
                      <a:pt x="0" y="4258046"/>
                    </a:cubicBezTo>
                    <a:lnTo>
                      <a:pt x="0" y="321374"/>
                    </a:lnTo>
                    <a:cubicBezTo>
                      <a:pt x="0" y="143882"/>
                      <a:pt x="114173" y="0"/>
                      <a:pt x="255016" y="0"/>
                    </a:cubicBezTo>
                    <a:lnTo>
                      <a:pt x="1538475" y="0"/>
                    </a:lnTo>
                    <a:cubicBezTo>
                      <a:pt x="1562351" y="0"/>
                      <a:pt x="1585211" y="12004"/>
                      <a:pt x="1601975" y="33130"/>
                    </a:cubicBezTo>
                    <a:lnTo>
                      <a:pt x="1588132" y="50575"/>
                    </a:lnTo>
                    <a:lnTo>
                      <a:pt x="1601975" y="33130"/>
                    </a:lnTo>
                    <a:cubicBezTo>
                      <a:pt x="1618866" y="54416"/>
                      <a:pt x="1628264" y="83224"/>
                      <a:pt x="1628264" y="113153"/>
                    </a:cubicBezTo>
                    <a:lnTo>
                      <a:pt x="1628264" y="201659"/>
                    </a:lnTo>
                    <a:cubicBezTo>
                      <a:pt x="1628264" y="215263"/>
                      <a:pt x="1619501" y="226306"/>
                      <a:pt x="1608706" y="226306"/>
                    </a:cubicBezTo>
                    <a:cubicBezTo>
                      <a:pt x="1597911" y="226306"/>
                      <a:pt x="1589148" y="215263"/>
                      <a:pt x="1589148" y="201659"/>
                    </a:cubicBezTo>
                    <a:close/>
                  </a:path>
                </a:pathLst>
              </a:custGeom>
              <a:solidFill>
                <a:srgbClr val="000000"/>
              </a:solidFill>
            </p:spPr>
          </p:sp>
        </p:grpSp>
        <p:grpSp>
          <p:nvGrpSpPr>
            <p:cNvPr name="Group 23" id="23"/>
            <p:cNvGrpSpPr/>
            <p:nvPr/>
          </p:nvGrpSpPr>
          <p:grpSpPr>
            <a:xfrm rot="5400000">
              <a:off x="17272926" y="1365192"/>
              <a:ext cx="305551" cy="1989462"/>
              <a:chOff x="0" y="0"/>
              <a:chExt cx="294526" cy="1917713"/>
            </a:xfrm>
          </p:grpSpPr>
          <p:sp>
            <p:nvSpPr>
              <p:cNvPr name="Freeform 24" id="24"/>
              <p:cNvSpPr/>
              <p:nvPr/>
            </p:nvSpPr>
            <p:spPr>
              <a:xfrm flipH="false" flipV="false" rot="0">
                <a:off x="0" y="0"/>
                <a:ext cx="294510" cy="1917680"/>
              </a:xfrm>
              <a:custGeom>
                <a:avLst/>
                <a:gdLst/>
                <a:ahLst/>
                <a:cxnLst/>
                <a:rect r="r" b="b" t="t" l="l"/>
                <a:pathLst>
                  <a:path h="1917680" w="294510">
                    <a:moveTo>
                      <a:pt x="294510" y="24647"/>
                    </a:moveTo>
                    <a:lnTo>
                      <a:pt x="294510" y="797993"/>
                    </a:lnTo>
                    <a:lnTo>
                      <a:pt x="274952" y="797993"/>
                    </a:lnTo>
                    <a:lnTo>
                      <a:pt x="294510" y="797993"/>
                    </a:lnTo>
                    <a:cubicBezTo>
                      <a:pt x="294510" y="900423"/>
                      <a:pt x="228598" y="983647"/>
                      <a:pt x="147192" y="983647"/>
                    </a:cubicBezTo>
                    <a:lnTo>
                      <a:pt x="147192" y="958840"/>
                    </a:lnTo>
                    <a:lnTo>
                      <a:pt x="147192" y="983487"/>
                    </a:lnTo>
                    <a:cubicBezTo>
                      <a:pt x="87502" y="983487"/>
                      <a:pt x="39116" y="1044465"/>
                      <a:pt x="39116" y="1119687"/>
                    </a:cubicBezTo>
                    <a:lnTo>
                      <a:pt x="19558" y="1119687"/>
                    </a:lnTo>
                    <a:lnTo>
                      <a:pt x="39243" y="1119687"/>
                    </a:lnTo>
                    <a:lnTo>
                      <a:pt x="39243" y="1893033"/>
                    </a:lnTo>
                    <a:cubicBezTo>
                      <a:pt x="39243" y="1906637"/>
                      <a:pt x="30480" y="1917680"/>
                      <a:pt x="19685" y="1917680"/>
                    </a:cubicBezTo>
                    <a:cubicBezTo>
                      <a:pt x="8890" y="1917680"/>
                      <a:pt x="0" y="1906637"/>
                      <a:pt x="0" y="1893033"/>
                    </a:cubicBezTo>
                    <a:lnTo>
                      <a:pt x="0" y="1119687"/>
                    </a:lnTo>
                    <a:cubicBezTo>
                      <a:pt x="0" y="1017257"/>
                      <a:pt x="65912" y="934033"/>
                      <a:pt x="147319" y="934033"/>
                    </a:cubicBezTo>
                    <a:cubicBezTo>
                      <a:pt x="207008" y="934033"/>
                      <a:pt x="255395" y="873055"/>
                      <a:pt x="255395" y="797833"/>
                    </a:cubicBezTo>
                    <a:lnTo>
                      <a:pt x="255395" y="24647"/>
                    </a:lnTo>
                    <a:cubicBezTo>
                      <a:pt x="255268" y="11043"/>
                      <a:pt x="264030" y="0"/>
                      <a:pt x="274952" y="0"/>
                    </a:cubicBezTo>
                    <a:cubicBezTo>
                      <a:pt x="285874" y="0"/>
                      <a:pt x="294510" y="11043"/>
                      <a:pt x="294510" y="24647"/>
                    </a:cubicBezTo>
                    <a:close/>
                  </a:path>
                </a:pathLst>
              </a:custGeom>
              <a:solidFill>
                <a:srgbClr val="FF3131"/>
              </a:solidFill>
            </p:spPr>
          </p:sp>
        </p:grpSp>
        <p:grpSp>
          <p:nvGrpSpPr>
            <p:cNvPr name="Group 25" id="25"/>
            <p:cNvGrpSpPr/>
            <p:nvPr/>
          </p:nvGrpSpPr>
          <p:grpSpPr>
            <a:xfrm rot="5400000">
              <a:off x="15802907" y="3303623"/>
              <a:ext cx="1124952" cy="1040463"/>
              <a:chOff x="0" y="0"/>
              <a:chExt cx="1084390" cy="1002949"/>
            </a:xfrm>
          </p:grpSpPr>
          <p:sp>
            <p:nvSpPr>
              <p:cNvPr name="Freeform 26" id="26"/>
              <p:cNvSpPr/>
              <p:nvPr/>
            </p:nvSpPr>
            <p:spPr>
              <a:xfrm flipH="false" flipV="false" rot="0">
                <a:off x="0" y="0"/>
                <a:ext cx="1084330" cy="1002858"/>
              </a:xfrm>
              <a:custGeom>
                <a:avLst/>
                <a:gdLst/>
                <a:ahLst/>
                <a:cxnLst/>
                <a:rect r="r" b="b" t="t" l="l"/>
                <a:pathLst>
                  <a:path h="1002858" w="1084330">
                    <a:moveTo>
                      <a:pt x="0" y="965887"/>
                    </a:moveTo>
                    <a:lnTo>
                      <a:pt x="355855" y="965887"/>
                    </a:lnTo>
                    <a:lnTo>
                      <a:pt x="355855" y="984453"/>
                    </a:lnTo>
                    <a:lnTo>
                      <a:pt x="355855" y="965887"/>
                    </a:lnTo>
                    <a:cubicBezTo>
                      <a:pt x="450598" y="965887"/>
                      <a:pt x="527433" y="869058"/>
                      <a:pt x="527433" y="749663"/>
                    </a:cubicBezTo>
                    <a:lnTo>
                      <a:pt x="542165" y="749663"/>
                    </a:lnTo>
                    <a:lnTo>
                      <a:pt x="527433" y="749663"/>
                    </a:lnTo>
                    <a:lnTo>
                      <a:pt x="527433" y="253515"/>
                    </a:lnTo>
                    <a:lnTo>
                      <a:pt x="542165" y="253515"/>
                    </a:lnTo>
                    <a:lnTo>
                      <a:pt x="527433" y="253515"/>
                    </a:lnTo>
                    <a:cubicBezTo>
                      <a:pt x="527433" y="113474"/>
                      <a:pt x="617476" y="0"/>
                      <a:pt x="728475" y="0"/>
                    </a:cubicBezTo>
                    <a:lnTo>
                      <a:pt x="728475" y="18566"/>
                    </a:lnTo>
                    <a:lnTo>
                      <a:pt x="728475" y="0"/>
                    </a:lnTo>
                    <a:lnTo>
                      <a:pt x="1084330" y="0"/>
                    </a:lnTo>
                    <a:lnTo>
                      <a:pt x="1084330" y="37131"/>
                    </a:lnTo>
                    <a:lnTo>
                      <a:pt x="728475" y="37131"/>
                    </a:lnTo>
                    <a:cubicBezTo>
                      <a:pt x="633732" y="37131"/>
                      <a:pt x="556897" y="133960"/>
                      <a:pt x="556897" y="253355"/>
                    </a:cubicBezTo>
                    <a:lnTo>
                      <a:pt x="556897" y="749503"/>
                    </a:lnTo>
                    <a:cubicBezTo>
                      <a:pt x="556897" y="889384"/>
                      <a:pt x="466854" y="1002858"/>
                      <a:pt x="355855" y="1002858"/>
                    </a:cubicBezTo>
                    <a:lnTo>
                      <a:pt x="0" y="1002858"/>
                    </a:lnTo>
                    <a:close/>
                  </a:path>
                </a:pathLst>
              </a:custGeom>
              <a:solidFill>
                <a:srgbClr val="FF3131"/>
              </a:solidFill>
            </p:spPr>
          </p:sp>
        </p:grpSp>
        <p:grpSp>
          <p:nvGrpSpPr>
            <p:cNvPr name="Group 27" id="27"/>
            <p:cNvGrpSpPr/>
            <p:nvPr/>
          </p:nvGrpSpPr>
          <p:grpSpPr>
            <a:xfrm rot="5400000">
              <a:off x="14364697" y="3412982"/>
              <a:ext cx="1108450" cy="838246"/>
              <a:chOff x="0" y="0"/>
              <a:chExt cx="1068476" cy="808012"/>
            </a:xfrm>
          </p:grpSpPr>
          <p:sp>
            <p:nvSpPr>
              <p:cNvPr name="Freeform 28" id="28"/>
              <p:cNvSpPr/>
              <p:nvPr/>
            </p:nvSpPr>
            <p:spPr>
              <a:xfrm flipH="false" flipV="false" rot="0">
                <a:off x="0" y="0"/>
                <a:ext cx="1068448" cy="808064"/>
              </a:xfrm>
              <a:custGeom>
                <a:avLst/>
                <a:gdLst/>
                <a:ahLst/>
                <a:cxnLst/>
                <a:rect r="r" b="b" t="t" l="l"/>
                <a:pathLst>
                  <a:path h="808064" w="1068448">
                    <a:moveTo>
                      <a:pt x="0" y="0"/>
                    </a:moveTo>
                    <a:lnTo>
                      <a:pt x="347852" y="0"/>
                    </a:lnTo>
                    <a:lnTo>
                      <a:pt x="347852" y="18565"/>
                    </a:lnTo>
                    <a:lnTo>
                      <a:pt x="347852" y="0"/>
                    </a:lnTo>
                    <a:cubicBezTo>
                      <a:pt x="458850" y="0"/>
                      <a:pt x="548892" y="113473"/>
                      <a:pt x="548892" y="253354"/>
                    </a:cubicBezTo>
                    <a:lnTo>
                      <a:pt x="534287" y="253354"/>
                    </a:lnTo>
                    <a:lnTo>
                      <a:pt x="549019" y="253354"/>
                    </a:lnTo>
                    <a:lnTo>
                      <a:pt x="549019" y="554723"/>
                    </a:lnTo>
                    <a:lnTo>
                      <a:pt x="534287" y="554723"/>
                    </a:lnTo>
                    <a:lnTo>
                      <a:pt x="549019" y="554723"/>
                    </a:lnTo>
                    <a:cubicBezTo>
                      <a:pt x="549019" y="674118"/>
                      <a:pt x="625854" y="770946"/>
                      <a:pt x="720596" y="770946"/>
                    </a:cubicBezTo>
                    <a:lnTo>
                      <a:pt x="720596" y="789512"/>
                    </a:lnTo>
                    <a:lnTo>
                      <a:pt x="720596" y="770946"/>
                    </a:lnTo>
                    <a:lnTo>
                      <a:pt x="1068448" y="770946"/>
                    </a:lnTo>
                    <a:lnTo>
                      <a:pt x="1068448" y="808064"/>
                    </a:lnTo>
                    <a:lnTo>
                      <a:pt x="720596" y="808064"/>
                    </a:lnTo>
                    <a:cubicBezTo>
                      <a:pt x="609598" y="808064"/>
                      <a:pt x="519555" y="694604"/>
                      <a:pt x="519555" y="554723"/>
                    </a:cubicBezTo>
                    <a:lnTo>
                      <a:pt x="519555" y="253354"/>
                    </a:lnTo>
                    <a:cubicBezTo>
                      <a:pt x="519555" y="133959"/>
                      <a:pt x="442721" y="37131"/>
                      <a:pt x="347979" y="37131"/>
                    </a:cubicBezTo>
                    <a:lnTo>
                      <a:pt x="0" y="37131"/>
                    </a:lnTo>
                    <a:close/>
                  </a:path>
                </a:pathLst>
              </a:custGeom>
              <a:solidFill>
                <a:srgbClr val="000000"/>
              </a:solidFill>
            </p:spPr>
          </p:sp>
        </p:grpSp>
        <p:grpSp>
          <p:nvGrpSpPr>
            <p:cNvPr name="Group 29" id="29"/>
            <p:cNvGrpSpPr/>
            <p:nvPr/>
          </p:nvGrpSpPr>
          <p:grpSpPr>
            <a:xfrm rot="5400000">
              <a:off x="15891714" y="-1313897"/>
              <a:ext cx="4291192" cy="7241039"/>
              <a:chOff x="0" y="0"/>
              <a:chExt cx="4136441" cy="6979913"/>
            </a:xfrm>
          </p:grpSpPr>
          <p:sp>
            <p:nvSpPr>
              <p:cNvPr name="Freeform 30" id="30"/>
              <p:cNvSpPr/>
              <p:nvPr/>
            </p:nvSpPr>
            <p:spPr>
              <a:xfrm flipH="false" flipV="false" rot="0">
                <a:off x="63500" y="80023"/>
                <a:ext cx="1628396" cy="4958413"/>
              </a:xfrm>
              <a:custGeom>
                <a:avLst/>
                <a:gdLst/>
                <a:ahLst/>
                <a:cxnLst/>
                <a:rect r="r" b="b" t="t" l="l"/>
                <a:pathLst>
                  <a:path h="4958413" w="1628396">
                    <a:moveTo>
                      <a:pt x="0" y="4958413"/>
                    </a:moveTo>
                    <a:lnTo>
                      <a:pt x="1628396" y="4958413"/>
                    </a:lnTo>
                    <a:lnTo>
                      <a:pt x="1628396" y="0"/>
                    </a:lnTo>
                    <a:lnTo>
                      <a:pt x="0" y="0"/>
                    </a:lnTo>
                    <a:close/>
                  </a:path>
                </a:pathLst>
              </a:custGeom>
              <a:solidFill>
                <a:srgbClr val="000000">
                  <a:alpha val="0"/>
                </a:srgbClr>
              </a:solidFill>
            </p:spPr>
          </p:sp>
          <p:sp>
            <p:nvSpPr>
              <p:cNvPr name="Freeform 31" id="31"/>
              <p:cNvSpPr/>
              <p:nvPr/>
            </p:nvSpPr>
            <p:spPr>
              <a:xfrm flipH="false" flipV="false" rot="0">
                <a:off x="1972312" y="3120594"/>
                <a:ext cx="294513" cy="1917842"/>
              </a:xfrm>
              <a:custGeom>
                <a:avLst/>
                <a:gdLst/>
                <a:ahLst/>
                <a:cxnLst/>
                <a:rect r="r" b="b" t="t" l="l"/>
                <a:pathLst>
                  <a:path h="1917842" w="294513">
                    <a:moveTo>
                      <a:pt x="0" y="1917842"/>
                    </a:moveTo>
                    <a:lnTo>
                      <a:pt x="294513" y="1917842"/>
                    </a:lnTo>
                    <a:lnTo>
                      <a:pt x="294513" y="0"/>
                    </a:lnTo>
                    <a:lnTo>
                      <a:pt x="0" y="0"/>
                    </a:lnTo>
                    <a:close/>
                  </a:path>
                </a:pathLst>
              </a:custGeom>
              <a:solidFill>
                <a:srgbClr val="000000">
                  <a:alpha val="0"/>
                </a:srgbClr>
              </a:solidFill>
            </p:spPr>
          </p:sp>
          <p:sp>
            <p:nvSpPr>
              <p:cNvPr name="Freeform 32" id="32"/>
              <p:cNvSpPr/>
              <p:nvPr/>
            </p:nvSpPr>
            <p:spPr>
              <a:xfrm flipH="false" flipV="false" rot="0">
                <a:off x="2988567" y="4600068"/>
                <a:ext cx="1084327" cy="1003014"/>
              </a:xfrm>
              <a:custGeom>
                <a:avLst/>
                <a:gdLst/>
                <a:ahLst/>
                <a:cxnLst/>
                <a:rect r="r" b="b" t="t" l="l"/>
                <a:pathLst>
                  <a:path h="1003014" w="1084327">
                    <a:moveTo>
                      <a:pt x="0" y="1003014"/>
                    </a:moveTo>
                    <a:lnTo>
                      <a:pt x="1084327" y="1003014"/>
                    </a:lnTo>
                    <a:lnTo>
                      <a:pt x="1084327" y="0"/>
                    </a:lnTo>
                    <a:lnTo>
                      <a:pt x="0" y="0"/>
                    </a:lnTo>
                    <a:close/>
                  </a:path>
                </a:pathLst>
              </a:custGeom>
              <a:solidFill>
                <a:srgbClr val="000000">
                  <a:alpha val="0"/>
                </a:srgbClr>
              </a:solidFill>
            </p:spPr>
          </p:sp>
          <p:sp>
            <p:nvSpPr>
              <p:cNvPr name="Freeform 33" id="33"/>
              <p:cNvSpPr/>
              <p:nvPr/>
            </p:nvSpPr>
            <p:spPr>
              <a:xfrm flipH="false" flipV="false" rot="0">
                <a:off x="3004442" y="6091865"/>
                <a:ext cx="1068452" cy="808076"/>
              </a:xfrm>
              <a:custGeom>
                <a:avLst/>
                <a:gdLst/>
                <a:ahLst/>
                <a:cxnLst/>
                <a:rect r="r" b="b" t="t" l="l"/>
                <a:pathLst>
                  <a:path h="808076" w="1068452">
                    <a:moveTo>
                      <a:pt x="0" y="808077"/>
                    </a:moveTo>
                    <a:lnTo>
                      <a:pt x="1068452" y="808077"/>
                    </a:lnTo>
                    <a:lnTo>
                      <a:pt x="1068452" y="0"/>
                    </a:lnTo>
                    <a:lnTo>
                      <a:pt x="0" y="0"/>
                    </a:lnTo>
                    <a:close/>
                  </a:path>
                </a:pathLst>
              </a:custGeom>
              <a:solidFill>
                <a:srgbClr val="000000">
                  <a:alpha val="0"/>
                </a:srgbClr>
              </a:solidFill>
            </p:spPr>
          </p:sp>
          <p:sp>
            <p:nvSpPr>
              <p:cNvPr name="Freeform 34" id="34"/>
              <p:cNvSpPr/>
              <p:nvPr/>
            </p:nvSpPr>
            <p:spPr>
              <a:xfrm flipH="false" flipV="false" rot="0">
                <a:off x="1091947" y="4618633"/>
                <a:ext cx="2107440" cy="2262103"/>
              </a:xfrm>
              <a:custGeom>
                <a:avLst/>
                <a:gdLst/>
                <a:ahLst/>
                <a:cxnLst/>
                <a:rect r="r" b="b" t="t" l="l"/>
                <a:pathLst>
                  <a:path h="2262103" w="2107440">
                    <a:moveTo>
                      <a:pt x="0" y="2262104"/>
                    </a:moveTo>
                    <a:lnTo>
                      <a:pt x="2107440" y="2262104"/>
                    </a:lnTo>
                    <a:lnTo>
                      <a:pt x="2107440" y="0"/>
                    </a:lnTo>
                    <a:lnTo>
                      <a:pt x="0" y="0"/>
                    </a:lnTo>
                    <a:close/>
                  </a:path>
                </a:pathLst>
              </a:custGeom>
              <a:solidFill>
                <a:srgbClr val="000000">
                  <a:alpha val="0"/>
                </a:srgbClr>
              </a:solidFill>
            </p:spPr>
          </p:sp>
        </p:grpSp>
        <p:grpSp>
          <p:nvGrpSpPr>
            <p:cNvPr name="Group 35" id="35"/>
            <p:cNvGrpSpPr/>
            <p:nvPr/>
          </p:nvGrpSpPr>
          <p:grpSpPr>
            <a:xfrm rot="161820">
              <a:off x="16285808" y="8514585"/>
              <a:ext cx="2838604" cy="2608378"/>
              <a:chOff x="0" y="0"/>
              <a:chExt cx="3118685" cy="2865742"/>
            </a:xfrm>
          </p:grpSpPr>
          <p:sp>
            <p:nvSpPr>
              <p:cNvPr name="Freeform 36" id="36"/>
              <p:cNvSpPr/>
              <p:nvPr/>
            </p:nvSpPr>
            <p:spPr>
              <a:xfrm flipH="false" flipV="false" rot="0">
                <a:off x="0" y="0"/>
                <a:ext cx="3118697" cy="2865755"/>
              </a:xfrm>
              <a:custGeom>
                <a:avLst/>
                <a:gdLst/>
                <a:ahLst/>
                <a:cxnLst/>
                <a:rect r="r" b="b" t="t" l="l"/>
                <a:pathLst>
                  <a:path h="2865755" w="3118697">
                    <a:moveTo>
                      <a:pt x="0" y="0"/>
                    </a:moveTo>
                    <a:lnTo>
                      <a:pt x="0" y="2826131"/>
                    </a:lnTo>
                    <a:lnTo>
                      <a:pt x="0" y="2865755"/>
                    </a:lnTo>
                    <a:lnTo>
                      <a:pt x="2464553" y="2865755"/>
                    </a:lnTo>
                    <a:lnTo>
                      <a:pt x="3118697" y="2865755"/>
                    </a:lnTo>
                    <a:lnTo>
                      <a:pt x="3118697" y="0"/>
                    </a:lnTo>
                    <a:lnTo>
                      <a:pt x="0" y="0"/>
                    </a:lnTo>
                    <a:close/>
                  </a:path>
                </a:pathLst>
              </a:custGeom>
              <a:blipFill>
                <a:blip r:embed="rId13"/>
                <a:stretch>
                  <a:fillRect l="0" t="-4413" r="0" b="-4413"/>
                </a:stretch>
              </a:blipFill>
            </p:spPr>
          </p:sp>
        </p:grpSp>
        <p:grpSp>
          <p:nvGrpSpPr>
            <p:cNvPr name="Group 37" id="37"/>
            <p:cNvGrpSpPr/>
            <p:nvPr/>
          </p:nvGrpSpPr>
          <p:grpSpPr>
            <a:xfrm rot="-10800000">
              <a:off x="15632246" y="5060529"/>
              <a:ext cx="3742553" cy="3451605"/>
              <a:chOff x="0" y="0"/>
              <a:chExt cx="4111824" cy="3792169"/>
            </a:xfrm>
          </p:grpSpPr>
          <p:sp>
            <p:nvSpPr>
              <p:cNvPr name="Freeform 38" id="38"/>
              <p:cNvSpPr/>
              <p:nvPr/>
            </p:nvSpPr>
            <p:spPr>
              <a:xfrm flipH="false" flipV="false" rot="0">
                <a:off x="0" y="0"/>
                <a:ext cx="4111875" cy="3792220"/>
              </a:xfrm>
              <a:custGeom>
                <a:avLst/>
                <a:gdLst/>
                <a:ahLst/>
                <a:cxnLst/>
                <a:rect r="r" b="b" t="t" l="l"/>
                <a:pathLst>
                  <a:path h="3792220" w="4111875">
                    <a:moveTo>
                      <a:pt x="0" y="0"/>
                    </a:moveTo>
                    <a:lnTo>
                      <a:pt x="4111875" y="0"/>
                    </a:lnTo>
                    <a:lnTo>
                      <a:pt x="4111875" y="3792220"/>
                    </a:lnTo>
                    <a:lnTo>
                      <a:pt x="0" y="3792220"/>
                    </a:lnTo>
                    <a:lnTo>
                      <a:pt x="0" y="0"/>
                    </a:lnTo>
                    <a:close/>
                  </a:path>
                </a:pathLst>
              </a:custGeom>
              <a:blipFill>
                <a:blip r:embed="rId14"/>
                <a:stretch>
                  <a:fillRect l="-1" t="-4216" r="0" b="-4214"/>
                </a:stretch>
              </a:blipFill>
            </p:spPr>
          </p:sp>
        </p:grpSp>
        <p:grpSp>
          <p:nvGrpSpPr>
            <p:cNvPr name="Group 39" id="39"/>
            <p:cNvGrpSpPr/>
            <p:nvPr/>
          </p:nvGrpSpPr>
          <p:grpSpPr>
            <a:xfrm rot="-10800000">
              <a:off x="17706019" y="10359380"/>
              <a:ext cx="2621013" cy="2057478"/>
              <a:chOff x="0" y="0"/>
              <a:chExt cx="2879624" cy="2260486"/>
            </a:xfrm>
          </p:grpSpPr>
          <p:sp>
            <p:nvSpPr>
              <p:cNvPr name="Freeform 40" id="40"/>
              <p:cNvSpPr/>
              <p:nvPr/>
            </p:nvSpPr>
            <p:spPr>
              <a:xfrm flipH="false" flipV="false" rot="0">
                <a:off x="0" y="0"/>
                <a:ext cx="2879555" cy="2260473"/>
              </a:xfrm>
              <a:custGeom>
                <a:avLst/>
                <a:gdLst/>
                <a:ahLst/>
                <a:cxnLst/>
                <a:rect r="r" b="b" t="t" l="l"/>
                <a:pathLst>
                  <a:path h="2260473" w="2879555">
                    <a:moveTo>
                      <a:pt x="0" y="0"/>
                    </a:moveTo>
                    <a:lnTo>
                      <a:pt x="2879555" y="0"/>
                    </a:lnTo>
                    <a:lnTo>
                      <a:pt x="2879555" y="2260473"/>
                    </a:lnTo>
                    <a:lnTo>
                      <a:pt x="0" y="2260473"/>
                    </a:lnTo>
                    <a:lnTo>
                      <a:pt x="0" y="0"/>
                    </a:lnTo>
                    <a:close/>
                  </a:path>
                </a:pathLst>
              </a:custGeom>
              <a:blipFill>
                <a:blip r:embed="rId11"/>
                <a:stretch>
                  <a:fillRect l="0" t="-5574" r="-2" b="-43145"/>
                </a:stretch>
              </a:blipFill>
            </p:spPr>
          </p:sp>
        </p:grpSp>
        <p:grpSp>
          <p:nvGrpSpPr>
            <p:cNvPr name="Group 41" id="41"/>
            <p:cNvGrpSpPr/>
            <p:nvPr/>
          </p:nvGrpSpPr>
          <p:grpSpPr>
            <a:xfrm rot="8467620">
              <a:off x="20255000" y="10524137"/>
              <a:ext cx="2282650" cy="1911332"/>
              <a:chOff x="0" y="0"/>
              <a:chExt cx="2507875" cy="2099920"/>
            </a:xfrm>
          </p:grpSpPr>
          <p:sp>
            <p:nvSpPr>
              <p:cNvPr name="Freeform 42" id="42"/>
              <p:cNvSpPr/>
              <p:nvPr/>
            </p:nvSpPr>
            <p:spPr>
              <a:xfrm flipH="false" flipV="false" rot="0">
                <a:off x="0" y="0"/>
                <a:ext cx="2507913" cy="2099945"/>
              </a:xfrm>
              <a:custGeom>
                <a:avLst/>
                <a:gdLst/>
                <a:ahLst/>
                <a:cxnLst/>
                <a:rect r="r" b="b" t="t" l="l"/>
                <a:pathLst>
                  <a:path h="2099945" w="2507913">
                    <a:moveTo>
                      <a:pt x="0" y="2099945"/>
                    </a:moveTo>
                    <a:lnTo>
                      <a:pt x="2507913" y="2099945"/>
                    </a:lnTo>
                    <a:lnTo>
                      <a:pt x="2507913" y="0"/>
                    </a:lnTo>
                    <a:lnTo>
                      <a:pt x="0" y="0"/>
                    </a:lnTo>
                    <a:lnTo>
                      <a:pt x="0" y="2099945"/>
                    </a:lnTo>
                    <a:close/>
                  </a:path>
                </a:pathLst>
              </a:custGeom>
              <a:blipFill>
                <a:blip r:embed="rId12"/>
                <a:stretch>
                  <a:fillRect l="-9295" t="-21241" r="0" b="-44455"/>
                </a:stretch>
              </a:blipFill>
            </p:spPr>
          </p:sp>
        </p:grpSp>
        <p:grpSp>
          <p:nvGrpSpPr>
            <p:cNvPr name="Group 43" id="43"/>
            <p:cNvGrpSpPr/>
            <p:nvPr/>
          </p:nvGrpSpPr>
          <p:grpSpPr>
            <a:xfrm rot="0">
              <a:off x="16912490" y="8040185"/>
              <a:ext cx="2033903" cy="2789943"/>
              <a:chOff x="0" y="0"/>
              <a:chExt cx="1675942" cy="2298916"/>
            </a:xfrm>
          </p:grpSpPr>
          <p:sp>
            <p:nvSpPr>
              <p:cNvPr name="Freeform 44" id="44"/>
              <p:cNvSpPr/>
              <p:nvPr/>
            </p:nvSpPr>
            <p:spPr>
              <a:xfrm flipH="false" flipV="false" rot="0">
                <a:off x="623944" y="1525014"/>
                <a:ext cx="529064" cy="710310"/>
              </a:xfrm>
              <a:custGeom>
                <a:avLst/>
                <a:gdLst/>
                <a:ahLst/>
                <a:cxnLst/>
                <a:rect r="r" b="b" t="t" l="l"/>
                <a:pathLst>
                  <a:path h="710310" w="529064">
                    <a:moveTo>
                      <a:pt x="109475" y="36957"/>
                    </a:moveTo>
                    <a:lnTo>
                      <a:pt x="64859" y="36957"/>
                    </a:lnTo>
                    <a:lnTo>
                      <a:pt x="64859" y="18415"/>
                    </a:lnTo>
                    <a:lnTo>
                      <a:pt x="64859" y="36957"/>
                    </a:lnTo>
                    <a:cubicBezTo>
                      <a:pt x="51364" y="36957"/>
                      <a:pt x="40347" y="47117"/>
                      <a:pt x="40347" y="59563"/>
                    </a:cubicBezTo>
                    <a:lnTo>
                      <a:pt x="20105" y="59563"/>
                    </a:lnTo>
                    <a:lnTo>
                      <a:pt x="40210" y="59563"/>
                    </a:lnTo>
                    <a:lnTo>
                      <a:pt x="40210" y="191389"/>
                    </a:lnTo>
                    <a:lnTo>
                      <a:pt x="20105" y="191389"/>
                    </a:lnTo>
                    <a:lnTo>
                      <a:pt x="40210" y="191389"/>
                    </a:lnTo>
                    <a:cubicBezTo>
                      <a:pt x="40210" y="276733"/>
                      <a:pt x="115259" y="345821"/>
                      <a:pt x="207659" y="345821"/>
                    </a:cubicBezTo>
                    <a:lnTo>
                      <a:pt x="207659" y="364363"/>
                    </a:lnTo>
                    <a:lnTo>
                      <a:pt x="207659" y="345821"/>
                    </a:lnTo>
                    <a:lnTo>
                      <a:pt x="331319" y="345821"/>
                    </a:lnTo>
                    <a:lnTo>
                      <a:pt x="331319" y="364363"/>
                    </a:lnTo>
                    <a:lnTo>
                      <a:pt x="331319" y="345821"/>
                    </a:lnTo>
                    <a:cubicBezTo>
                      <a:pt x="440519" y="345821"/>
                      <a:pt x="528926" y="427355"/>
                      <a:pt x="528926" y="528066"/>
                    </a:cubicBezTo>
                    <a:lnTo>
                      <a:pt x="508959" y="528066"/>
                    </a:lnTo>
                    <a:lnTo>
                      <a:pt x="529064" y="528066"/>
                    </a:lnTo>
                    <a:lnTo>
                      <a:pt x="529064" y="691768"/>
                    </a:lnTo>
                    <a:cubicBezTo>
                      <a:pt x="529064" y="702055"/>
                      <a:pt x="520113" y="710310"/>
                      <a:pt x="508959" y="710310"/>
                    </a:cubicBezTo>
                    <a:cubicBezTo>
                      <a:pt x="497805" y="710310"/>
                      <a:pt x="488854" y="702055"/>
                      <a:pt x="488854" y="691768"/>
                    </a:cubicBezTo>
                    <a:lnTo>
                      <a:pt x="488854" y="528192"/>
                    </a:lnTo>
                    <a:cubicBezTo>
                      <a:pt x="488854" y="448056"/>
                      <a:pt x="418349" y="383032"/>
                      <a:pt x="331457" y="383032"/>
                    </a:cubicBezTo>
                    <a:lnTo>
                      <a:pt x="207659" y="383032"/>
                    </a:lnTo>
                    <a:cubicBezTo>
                      <a:pt x="92951" y="383032"/>
                      <a:pt x="0" y="297307"/>
                      <a:pt x="0" y="191516"/>
                    </a:cubicBezTo>
                    <a:lnTo>
                      <a:pt x="0" y="59690"/>
                    </a:lnTo>
                    <a:cubicBezTo>
                      <a:pt x="0" y="26670"/>
                      <a:pt x="28918" y="0"/>
                      <a:pt x="64721" y="0"/>
                    </a:cubicBezTo>
                    <a:lnTo>
                      <a:pt x="109338" y="0"/>
                    </a:lnTo>
                    <a:cubicBezTo>
                      <a:pt x="120492" y="0"/>
                      <a:pt x="129443" y="8255"/>
                      <a:pt x="129443" y="18542"/>
                    </a:cubicBezTo>
                    <a:cubicBezTo>
                      <a:pt x="129443" y="28829"/>
                      <a:pt x="120492" y="37084"/>
                      <a:pt x="109338" y="37084"/>
                    </a:cubicBezTo>
                    <a:close/>
                  </a:path>
                </a:pathLst>
              </a:custGeom>
              <a:solidFill>
                <a:srgbClr val="000000"/>
              </a:solidFill>
            </p:spPr>
          </p:sp>
          <p:sp>
            <p:nvSpPr>
              <p:cNvPr name="Freeform 45" id="45"/>
              <p:cNvSpPr/>
              <p:nvPr/>
            </p:nvSpPr>
            <p:spPr>
              <a:xfrm flipH="false" flipV="false" rot="0">
                <a:off x="802685" y="1449068"/>
                <a:ext cx="804475" cy="786383"/>
              </a:xfrm>
              <a:custGeom>
                <a:avLst/>
                <a:gdLst/>
                <a:ahLst/>
                <a:cxnLst/>
                <a:rect r="r" b="b" t="t" l="l"/>
                <a:pathLst>
                  <a:path h="786383" w="804475">
                    <a:moveTo>
                      <a:pt x="0" y="57404"/>
                    </a:moveTo>
                    <a:lnTo>
                      <a:pt x="0" y="37973"/>
                    </a:lnTo>
                    <a:lnTo>
                      <a:pt x="20105" y="37973"/>
                    </a:lnTo>
                    <a:lnTo>
                      <a:pt x="0" y="37973"/>
                    </a:lnTo>
                    <a:cubicBezTo>
                      <a:pt x="0" y="27940"/>
                      <a:pt x="4407" y="18288"/>
                      <a:pt x="12118" y="11176"/>
                    </a:cubicBezTo>
                    <a:cubicBezTo>
                      <a:pt x="19830" y="4064"/>
                      <a:pt x="30295" y="0"/>
                      <a:pt x="41174" y="0"/>
                    </a:cubicBezTo>
                    <a:lnTo>
                      <a:pt x="41174" y="18542"/>
                    </a:lnTo>
                    <a:lnTo>
                      <a:pt x="41174" y="0"/>
                    </a:lnTo>
                    <a:lnTo>
                      <a:pt x="543248" y="0"/>
                    </a:lnTo>
                    <a:lnTo>
                      <a:pt x="543248" y="18542"/>
                    </a:lnTo>
                    <a:lnTo>
                      <a:pt x="543248" y="0"/>
                    </a:lnTo>
                    <a:cubicBezTo>
                      <a:pt x="687426" y="0"/>
                      <a:pt x="804476" y="107823"/>
                      <a:pt x="804476" y="240919"/>
                    </a:cubicBezTo>
                    <a:lnTo>
                      <a:pt x="784371" y="240919"/>
                    </a:lnTo>
                    <a:lnTo>
                      <a:pt x="804476" y="240919"/>
                    </a:lnTo>
                    <a:lnTo>
                      <a:pt x="804476" y="767841"/>
                    </a:lnTo>
                    <a:cubicBezTo>
                      <a:pt x="804476" y="778128"/>
                      <a:pt x="795525" y="786383"/>
                      <a:pt x="784371" y="786383"/>
                    </a:cubicBezTo>
                    <a:cubicBezTo>
                      <a:pt x="773216" y="786383"/>
                      <a:pt x="764266" y="778128"/>
                      <a:pt x="764266" y="767841"/>
                    </a:cubicBezTo>
                    <a:lnTo>
                      <a:pt x="764266" y="240919"/>
                    </a:lnTo>
                    <a:cubicBezTo>
                      <a:pt x="764266" y="128397"/>
                      <a:pt x="665255" y="37084"/>
                      <a:pt x="543248" y="37084"/>
                    </a:cubicBezTo>
                    <a:lnTo>
                      <a:pt x="41174" y="37084"/>
                    </a:lnTo>
                    <a:cubicBezTo>
                      <a:pt x="40899" y="37084"/>
                      <a:pt x="40623" y="37211"/>
                      <a:pt x="40486" y="37338"/>
                    </a:cubicBezTo>
                    <a:lnTo>
                      <a:pt x="26302" y="24257"/>
                    </a:lnTo>
                    <a:lnTo>
                      <a:pt x="40486" y="37338"/>
                    </a:lnTo>
                    <a:cubicBezTo>
                      <a:pt x="40348" y="37465"/>
                      <a:pt x="40210" y="37719"/>
                      <a:pt x="40210" y="37973"/>
                    </a:cubicBezTo>
                    <a:lnTo>
                      <a:pt x="40210" y="57404"/>
                    </a:lnTo>
                    <a:cubicBezTo>
                      <a:pt x="40210" y="67691"/>
                      <a:pt x="31259" y="75946"/>
                      <a:pt x="20105" y="75946"/>
                    </a:cubicBezTo>
                    <a:cubicBezTo>
                      <a:pt x="8951" y="75946"/>
                      <a:pt x="0" y="67691"/>
                      <a:pt x="0" y="57404"/>
                    </a:cubicBezTo>
                    <a:close/>
                  </a:path>
                </a:pathLst>
              </a:custGeom>
              <a:solidFill>
                <a:srgbClr val="FF3131"/>
              </a:solidFill>
            </p:spPr>
          </p:sp>
          <p:sp>
            <p:nvSpPr>
              <p:cNvPr name="Freeform 46" id="46"/>
              <p:cNvSpPr/>
              <p:nvPr/>
            </p:nvSpPr>
            <p:spPr>
              <a:xfrm flipH="false" flipV="false" rot="0">
                <a:off x="217850" y="63500"/>
                <a:ext cx="481143" cy="1338705"/>
              </a:xfrm>
              <a:custGeom>
                <a:avLst/>
                <a:gdLst/>
                <a:ahLst/>
                <a:cxnLst/>
                <a:rect r="r" b="b" t="t" l="l"/>
                <a:pathLst>
                  <a:path h="1338705" w="481143">
                    <a:moveTo>
                      <a:pt x="40072" y="18542"/>
                    </a:moveTo>
                    <a:lnTo>
                      <a:pt x="40072" y="465962"/>
                    </a:lnTo>
                    <a:lnTo>
                      <a:pt x="19967" y="465962"/>
                    </a:lnTo>
                    <a:lnTo>
                      <a:pt x="40072" y="465962"/>
                    </a:lnTo>
                    <a:cubicBezTo>
                      <a:pt x="40072" y="568070"/>
                      <a:pt x="129856" y="650747"/>
                      <a:pt x="240434" y="650747"/>
                    </a:cubicBezTo>
                    <a:lnTo>
                      <a:pt x="240434" y="669289"/>
                    </a:lnTo>
                    <a:lnTo>
                      <a:pt x="240434" y="650874"/>
                    </a:lnTo>
                    <a:cubicBezTo>
                      <a:pt x="373320" y="650874"/>
                      <a:pt x="481005" y="750188"/>
                      <a:pt x="481005" y="872743"/>
                    </a:cubicBezTo>
                    <a:lnTo>
                      <a:pt x="461038" y="872743"/>
                    </a:lnTo>
                    <a:lnTo>
                      <a:pt x="481143" y="872743"/>
                    </a:lnTo>
                    <a:lnTo>
                      <a:pt x="481143" y="1320163"/>
                    </a:lnTo>
                    <a:cubicBezTo>
                      <a:pt x="481143" y="1330450"/>
                      <a:pt x="472192" y="1338705"/>
                      <a:pt x="461038" y="1338705"/>
                    </a:cubicBezTo>
                    <a:cubicBezTo>
                      <a:pt x="449884" y="1338705"/>
                      <a:pt x="440933" y="1330450"/>
                      <a:pt x="440933" y="1320163"/>
                    </a:cubicBezTo>
                    <a:lnTo>
                      <a:pt x="440933" y="872743"/>
                    </a:lnTo>
                    <a:cubicBezTo>
                      <a:pt x="440933" y="770635"/>
                      <a:pt x="351149" y="687958"/>
                      <a:pt x="240572" y="687958"/>
                    </a:cubicBezTo>
                    <a:cubicBezTo>
                      <a:pt x="107686" y="687958"/>
                      <a:pt x="0" y="588644"/>
                      <a:pt x="0" y="466089"/>
                    </a:cubicBezTo>
                    <a:lnTo>
                      <a:pt x="0" y="18542"/>
                    </a:lnTo>
                    <a:cubicBezTo>
                      <a:pt x="0" y="8255"/>
                      <a:pt x="8951" y="0"/>
                      <a:pt x="20105" y="0"/>
                    </a:cubicBezTo>
                    <a:cubicBezTo>
                      <a:pt x="31259" y="0"/>
                      <a:pt x="40210" y="8255"/>
                      <a:pt x="40210" y="18542"/>
                    </a:cubicBezTo>
                    <a:close/>
                  </a:path>
                </a:pathLst>
              </a:custGeom>
              <a:solidFill>
                <a:srgbClr val="FF3131"/>
              </a:solidFill>
            </p:spPr>
          </p:sp>
          <p:sp>
            <p:nvSpPr>
              <p:cNvPr name="Freeform 47" id="47"/>
              <p:cNvSpPr/>
              <p:nvPr/>
            </p:nvSpPr>
            <p:spPr>
              <a:xfrm flipH="false" flipV="false" rot="0">
                <a:off x="68853" y="63500"/>
                <a:ext cx="555229" cy="1368423"/>
              </a:xfrm>
              <a:custGeom>
                <a:avLst/>
                <a:gdLst/>
                <a:ahLst/>
                <a:cxnLst/>
                <a:rect r="r" b="b" t="t" l="l"/>
                <a:pathLst>
                  <a:path h="1368423" w="555229">
                    <a:moveTo>
                      <a:pt x="40210" y="18542"/>
                    </a:moveTo>
                    <a:lnTo>
                      <a:pt x="40210" y="1073784"/>
                    </a:lnTo>
                    <a:lnTo>
                      <a:pt x="20105" y="1073784"/>
                    </a:lnTo>
                    <a:lnTo>
                      <a:pt x="40210" y="1073784"/>
                    </a:lnTo>
                    <a:cubicBezTo>
                      <a:pt x="40210" y="1186306"/>
                      <a:pt x="139220" y="1277619"/>
                      <a:pt x="261227" y="1277619"/>
                    </a:cubicBezTo>
                    <a:lnTo>
                      <a:pt x="261227" y="1296160"/>
                    </a:lnTo>
                    <a:lnTo>
                      <a:pt x="261227" y="1277619"/>
                    </a:lnTo>
                    <a:lnTo>
                      <a:pt x="505930" y="1277619"/>
                    </a:lnTo>
                    <a:lnTo>
                      <a:pt x="505930" y="1296160"/>
                    </a:lnTo>
                    <a:lnTo>
                      <a:pt x="505930" y="1277619"/>
                    </a:lnTo>
                    <a:cubicBezTo>
                      <a:pt x="533058" y="1277619"/>
                      <a:pt x="555091" y="1297938"/>
                      <a:pt x="555091" y="1322957"/>
                    </a:cubicBezTo>
                    <a:lnTo>
                      <a:pt x="535123" y="1322957"/>
                    </a:lnTo>
                    <a:lnTo>
                      <a:pt x="555228" y="1322957"/>
                    </a:lnTo>
                    <a:lnTo>
                      <a:pt x="555228" y="1349881"/>
                    </a:lnTo>
                    <a:cubicBezTo>
                      <a:pt x="555228" y="1360168"/>
                      <a:pt x="546277" y="1368423"/>
                      <a:pt x="535123" y="1368423"/>
                    </a:cubicBezTo>
                    <a:cubicBezTo>
                      <a:pt x="523969" y="1368423"/>
                      <a:pt x="515018" y="1360168"/>
                      <a:pt x="515018" y="1349881"/>
                    </a:cubicBezTo>
                    <a:lnTo>
                      <a:pt x="515018" y="1322957"/>
                    </a:lnTo>
                    <a:cubicBezTo>
                      <a:pt x="515018" y="1318385"/>
                      <a:pt x="511025" y="1314575"/>
                      <a:pt x="505930" y="1314575"/>
                    </a:cubicBezTo>
                    <a:lnTo>
                      <a:pt x="261227" y="1314575"/>
                    </a:lnTo>
                    <a:cubicBezTo>
                      <a:pt x="116912" y="1314575"/>
                      <a:pt x="0" y="1206753"/>
                      <a:pt x="0" y="1073784"/>
                    </a:cubicBezTo>
                    <a:lnTo>
                      <a:pt x="0" y="18542"/>
                    </a:lnTo>
                    <a:cubicBezTo>
                      <a:pt x="0" y="8255"/>
                      <a:pt x="8951" y="0"/>
                      <a:pt x="20105" y="0"/>
                    </a:cubicBezTo>
                    <a:cubicBezTo>
                      <a:pt x="31259" y="0"/>
                      <a:pt x="40210" y="8255"/>
                      <a:pt x="40210" y="18542"/>
                    </a:cubicBezTo>
                    <a:close/>
                  </a:path>
                </a:pathLst>
              </a:custGeom>
              <a:solidFill>
                <a:srgbClr val="000000"/>
              </a:solidFill>
            </p:spPr>
          </p:sp>
        </p:grpSp>
        <p:grpSp>
          <p:nvGrpSpPr>
            <p:cNvPr name="Group 48" id="48"/>
            <p:cNvGrpSpPr/>
            <p:nvPr/>
          </p:nvGrpSpPr>
          <p:grpSpPr>
            <a:xfrm rot="0">
              <a:off x="20065025" y="10342342"/>
              <a:ext cx="1347901" cy="912353"/>
              <a:chOff x="0" y="0"/>
              <a:chExt cx="1110676" cy="751776"/>
            </a:xfrm>
          </p:grpSpPr>
          <p:sp>
            <p:nvSpPr>
              <p:cNvPr name="Freeform 49" id="49"/>
              <p:cNvSpPr/>
              <p:nvPr/>
            </p:nvSpPr>
            <p:spPr>
              <a:xfrm flipH="false" flipV="false" rot="0">
                <a:off x="0" y="0"/>
                <a:ext cx="1110729" cy="751712"/>
              </a:xfrm>
              <a:custGeom>
                <a:avLst/>
                <a:gdLst/>
                <a:ahLst/>
                <a:cxnLst/>
                <a:rect r="r" b="b" t="t" l="l"/>
                <a:pathLst>
                  <a:path h="751712" w="1110729">
                    <a:moveTo>
                      <a:pt x="0" y="724026"/>
                    </a:moveTo>
                    <a:lnTo>
                      <a:pt x="364507" y="724026"/>
                    </a:lnTo>
                    <a:lnTo>
                      <a:pt x="364507" y="737869"/>
                    </a:lnTo>
                    <a:lnTo>
                      <a:pt x="364507" y="724026"/>
                    </a:lnTo>
                    <a:cubicBezTo>
                      <a:pt x="461589" y="724026"/>
                      <a:pt x="540357" y="651382"/>
                      <a:pt x="540357" y="561848"/>
                    </a:cubicBezTo>
                    <a:lnTo>
                      <a:pt x="555367" y="561848"/>
                    </a:lnTo>
                    <a:lnTo>
                      <a:pt x="540357" y="561848"/>
                    </a:lnTo>
                    <a:lnTo>
                      <a:pt x="540357" y="189865"/>
                    </a:lnTo>
                    <a:lnTo>
                      <a:pt x="555367" y="189865"/>
                    </a:lnTo>
                    <a:lnTo>
                      <a:pt x="540357" y="189865"/>
                    </a:lnTo>
                    <a:cubicBezTo>
                      <a:pt x="540219" y="85090"/>
                      <a:pt x="632482" y="0"/>
                      <a:pt x="746227" y="0"/>
                    </a:cubicBezTo>
                    <a:lnTo>
                      <a:pt x="746227" y="13843"/>
                    </a:lnTo>
                    <a:lnTo>
                      <a:pt x="746227" y="0"/>
                    </a:lnTo>
                    <a:lnTo>
                      <a:pt x="1110729" y="0"/>
                    </a:lnTo>
                    <a:lnTo>
                      <a:pt x="1110729" y="27813"/>
                    </a:lnTo>
                    <a:lnTo>
                      <a:pt x="746227" y="27813"/>
                    </a:lnTo>
                    <a:cubicBezTo>
                      <a:pt x="649144" y="27813"/>
                      <a:pt x="570377" y="100457"/>
                      <a:pt x="570377" y="189992"/>
                    </a:cubicBezTo>
                    <a:lnTo>
                      <a:pt x="570377" y="561848"/>
                    </a:lnTo>
                    <a:cubicBezTo>
                      <a:pt x="570377" y="666750"/>
                      <a:pt x="478114" y="751712"/>
                      <a:pt x="364507" y="751712"/>
                    </a:cubicBezTo>
                    <a:lnTo>
                      <a:pt x="0" y="751712"/>
                    </a:lnTo>
                    <a:close/>
                  </a:path>
                </a:pathLst>
              </a:custGeom>
              <a:solidFill>
                <a:srgbClr val="FF3131"/>
              </a:solidFill>
            </p:spPr>
          </p:sp>
        </p:grpSp>
        <p:grpSp>
          <p:nvGrpSpPr>
            <p:cNvPr name="Group 50" id="50"/>
            <p:cNvGrpSpPr/>
            <p:nvPr/>
          </p:nvGrpSpPr>
          <p:grpSpPr>
            <a:xfrm rot="0">
              <a:off x="20084803" y="11699340"/>
              <a:ext cx="1328135" cy="735019"/>
              <a:chOff x="0" y="0"/>
              <a:chExt cx="1094385" cy="605663"/>
            </a:xfrm>
          </p:grpSpPr>
          <p:sp>
            <p:nvSpPr>
              <p:cNvPr name="Freeform 51" id="51"/>
              <p:cNvSpPr/>
              <p:nvPr/>
            </p:nvSpPr>
            <p:spPr>
              <a:xfrm flipH="false" flipV="false" rot="0">
                <a:off x="0" y="0"/>
                <a:ext cx="1094347" cy="605665"/>
              </a:xfrm>
              <a:custGeom>
                <a:avLst/>
                <a:gdLst/>
                <a:ahLst/>
                <a:cxnLst/>
                <a:rect r="r" b="b" t="t" l="l"/>
                <a:pathLst>
                  <a:path h="605665" w="1094347">
                    <a:moveTo>
                      <a:pt x="0" y="0"/>
                    </a:moveTo>
                    <a:lnTo>
                      <a:pt x="356382" y="0"/>
                    </a:lnTo>
                    <a:lnTo>
                      <a:pt x="356382" y="13843"/>
                    </a:lnTo>
                    <a:lnTo>
                      <a:pt x="356382" y="0"/>
                    </a:lnTo>
                    <a:cubicBezTo>
                      <a:pt x="470127" y="0"/>
                      <a:pt x="562252" y="85090"/>
                      <a:pt x="562252" y="189866"/>
                    </a:cubicBezTo>
                    <a:lnTo>
                      <a:pt x="547242" y="189866"/>
                    </a:lnTo>
                    <a:lnTo>
                      <a:pt x="562252" y="189866"/>
                    </a:lnTo>
                    <a:lnTo>
                      <a:pt x="562252" y="415799"/>
                    </a:lnTo>
                    <a:lnTo>
                      <a:pt x="547242" y="415799"/>
                    </a:lnTo>
                    <a:lnTo>
                      <a:pt x="562252" y="415799"/>
                    </a:lnTo>
                    <a:cubicBezTo>
                      <a:pt x="562252" y="505335"/>
                      <a:pt x="641020" y="577979"/>
                      <a:pt x="738102" y="577979"/>
                    </a:cubicBezTo>
                    <a:lnTo>
                      <a:pt x="738102" y="591822"/>
                    </a:lnTo>
                    <a:lnTo>
                      <a:pt x="738102" y="577852"/>
                    </a:lnTo>
                    <a:lnTo>
                      <a:pt x="1094347" y="577852"/>
                    </a:lnTo>
                    <a:lnTo>
                      <a:pt x="1094347" y="605665"/>
                    </a:lnTo>
                    <a:lnTo>
                      <a:pt x="738102" y="605665"/>
                    </a:lnTo>
                    <a:cubicBezTo>
                      <a:pt x="624357" y="605665"/>
                      <a:pt x="532232" y="520575"/>
                      <a:pt x="532232" y="415799"/>
                    </a:cubicBezTo>
                    <a:lnTo>
                      <a:pt x="532232" y="189866"/>
                    </a:lnTo>
                    <a:cubicBezTo>
                      <a:pt x="532232" y="100330"/>
                      <a:pt x="453465" y="27686"/>
                      <a:pt x="356382" y="27686"/>
                    </a:cubicBezTo>
                    <a:lnTo>
                      <a:pt x="0" y="27686"/>
                    </a:lnTo>
                    <a:close/>
                  </a:path>
                </a:pathLst>
              </a:custGeom>
              <a:solidFill>
                <a:srgbClr val="000000"/>
              </a:solidFill>
            </p:spPr>
          </p:sp>
        </p:grpSp>
        <p:grpSp>
          <p:nvGrpSpPr>
            <p:cNvPr name="Group 52" id="52"/>
            <p:cNvGrpSpPr/>
            <p:nvPr/>
          </p:nvGrpSpPr>
          <p:grpSpPr>
            <a:xfrm rot="-1324920">
              <a:off x="16690018" y="9002867"/>
              <a:ext cx="1761460" cy="888205"/>
              <a:chOff x="0" y="0"/>
              <a:chExt cx="1935260" cy="975843"/>
            </a:xfrm>
          </p:grpSpPr>
          <p:sp>
            <p:nvSpPr>
              <p:cNvPr name="Freeform 53" id="53"/>
              <p:cNvSpPr/>
              <p:nvPr/>
            </p:nvSpPr>
            <p:spPr>
              <a:xfrm flipH="false" flipV="false" rot="0">
                <a:off x="0" y="0"/>
                <a:ext cx="1935218" cy="975868"/>
              </a:xfrm>
              <a:custGeom>
                <a:avLst/>
                <a:gdLst/>
                <a:ahLst/>
                <a:cxnLst/>
                <a:rect r="r" b="b" t="t" l="l"/>
                <a:pathLst>
                  <a:path h="975868" w="1935218">
                    <a:moveTo>
                      <a:pt x="1935218" y="0"/>
                    </a:moveTo>
                    <a:lnTo>
                      <a:pt x="988837" y="0"/>
                    </a:lnTo>
                    <a:lnTo>
                      <a:pt x="0" y="0"/>
                    </a:lnTo>
                    <a:lnTo>
                      <a:pt x="0" y="975868"/>
                    </a:lnTo>
                    <a:lnTo>
                      <a:pt x="1935218" y="975868"/>
                    </a:lnTo>
                    <a:lnTo>
                      <a:pt x="1935218" y="146050"/>
                    </a:lnTo>
                    <a:lnTo>
                      <a:pt x="1935218" y="0"/>
                    </a:lnTo>
                    <a:close/>
                  </a:path>
                </a:pathLst>
              </a:custGeom>
              <a:blipFill>
                <a:blip r:embed="rId15"/>
                <a:stretch>
                  <a:fillRect l="0" t="-5165" r="-2" b="-93145"/>
                </a:stretch>
              </a:blipFill>
            </p:spPr>
          </p:sp>
        </p:grpSp>
        <p:grpSp>
          <p:nvGrpSpPr>
            <p:cNvPr name="Group 54" id="54"/>
            <p:cNvGrpSpPr/>
            <p:nvPr/>
          </p:nvGrpSpPr>
          <p:grpSpPr>
            <a:xfrm rot="0">
              <a:off x="16912490" y="8040185"/>
              <a:ext cx="4583999" cy="4471253"/>
              <a:chOff x="0" y="0"/>
              <a:chExt cx="3777228" cy="3684308"/>
            </a:xfrm>
          </p:grpSpPr>
          <p:sp>
            <p:nvSpPr>
              <p:cNvPr name="Freeform 55" id="55"/>
              <p:cNvSpPr/>
              <p:nvPr/>
            </p:nvSpPr>
            <p:spPr>
              <a:xfrm flipH="false" flipV="false" rot="0">
                <a:off x="68853" y="63500"/>
                <a:ext cx="555091" cy="1368296"/>
              </a:xfrm>
              <a:custGeom>
                <a:avLst/>
                <a:gdLst/>
                <a:ahLst/>
                <a:cxnLst/>
                <a:rect r="r" b="b" t="t" l="l"/>
                <a:pathLst>
                  <a:path h="1368296" w="555091">
                    <a:moveTo>
                      <a:pt x="0" y="1368296"/>
                    </a:moveTo>
                    <a:lnTo>
                      <a:pt x="555090" y="1368296"/>
                    </a:lnTo>
                    <a:lnTo>
                      <a:pt x="555090" y="0"/>
                    </a:lnTo>
                    <a:lnTo>
                      <a:pt x="0" y="0"/>
                    </a:lnTo>
                    <a:close/>
                  </a:path>
                </a:pathLst>
              </a:custGeom>
              <a:solidFill>
                <a:srgbClr val="000000">
                  <a:alpha val="0"/>
                </a:srgbClr>
              </a:solidFill>
            </p:spPr>
          </p:sp>
          <p:sp>
            <p:nvSpPr>
              <p:cNvPr name="Freeform 56" id="56"/>
              <p:cNvSpPr/>
              <p:nvPr/>
            </p:nvSpPr>
            <p:spPr>
              <a:xfrm flipH="false" flipV="false" rot="0">
                <a:off x="217712" y="63500"/>
                <a:ext cx="481281" cy="1338705"/>
              </a:xfrm>
              <a:custGeom>
                <a:avLst/>
                <a:gdLst/>
                <a:ahLst/>
                <a:cxnLst/>
                <a:rect r="r" b="b" t="t" l="l"/>
                <a:pathLst>
                  <a:path h="1338705" w="481281">
                    <a:moveTo>
                      <a:pt x="0" y="1338705"/>
                    </a:moveTo>
                    <a:lnTo>
                      <a:pt x="481281" y="1338705"/>
                    </a:lnTo>
                    <a:lnTo>
                      <a:pt x="481281" y="0"/>
                    </a:lnTo>
                    <a:lnTo>
                      <a:pt x="0" y="0"/>
                    </a:lnTo>
                    <a:close/>
                  </a:path>
                </a:pathLst>
              </a:custGeom>
              <a:solidFill>
                <a:srgbClr val="000000">
                  <a:alpha val="0"/>
                </a:srgbClr>
              </a:solidFill>
            </p:spPr>
          </p:sp>
          <p:sp>
            <p:nvSpPr>
              <p:cNvPr name="Freeform 57" id="57"/>
              <p:cNvSpPr/>
              <p:nvPr/>
            </p:nvSpPr>
            <p:spPr>
              <a:xfrm flipH="false" flipV="false" rot="0">
                <a:off x="802685" y="1449068"/>
                <a:ext cx="804338" cy="786383"/>
              </a:xfrm>
              <a:custGeom>
                <a:avLst/>
                <a:gdLst/>
                <a:ahLst/>
                <a:cxnLst/>
                <a:rect r="r" b="b" t="t" l="l"/>
                <a:pathLst>
                  <a:path h="786383" w="804338">
                    <a:moveTo>
                      <a:pt x="0" y="786383"/>
                    </a:moveTo>
                    <a:lnTo>
                      <a:pt x="804338" y="786383"/>
                    </a:lnTo>
                    <a:lnTo>
                      <a:pt x="804338" y="0"/>
                    </a:lnTo>
                    <a:lnTo>
                      <a:pt x="0" y="0"/>
                    </a:lnTo>
                    <a:close/>
                  </a:path>
                </a:pathLst>
              </a:custGeom>
              <a:solidFill>
                <a:srgbClr val="000000">
                  <a:alpha val="0"/>
                </a:srgbClr>
              </a:solidFill>
            </p:spPr>
          </p:sp>
          <p:sp>
            <p:nvSpPr>
              <p:cNvPr name="Freeform 58" id="58"/>
              <p:cNvSpPr/>
              <p:nvPr/>
            </p:nvSpPr>
            <p:spPr>
              <a:xfrm flipH="false" flipV="false" rot="0">
                <a:off x="623943" y="1524887"/>
                <a:ext cx="529064" cy="710564"/>
              </a:xfrm>
              <a:custGeom>
                <a:avLst/>
                <a:gdLst/>
                <a:ahLst/>
                <a:cxnLst/>
                <a:rect r="r" b="b" t="t" l="l"/>
                <a:pathLst>
                  <a:path h="710564" w="529064">
                    <a:moveTo>
                      <a:pt x="0" y="710564"/>
                    </a:moveTo>
                    <a:lnTo>
                      <a:pt x="529065" y="710564"/>
                    </a:lnTo>
                    <a:lnTo>
                      <a:pt x="529065" y="0"/>
                    </a:lnTo>
                    <a:lnTo>
                      <a:pt x="0" y="0"/>
                    </a:lnTo>
                    <a:close/>
                  </a:path>
                </a:pathLst>
              </a:custGeom>
              <a:solidFill>
                <a:srgbClr val="000000">
                  <a:alpha val="0"/>
                </a:srgbClr>
              </a:solidFill>
            </p:spPr>
          </p:sp>
          <p:sp>
            <p:nvSpPr>
              <p:cNvPr name="Freeform 59" id="59"/>
              <p:cNvSpPr/>
              <p:nvPr/>
            </p:nvSpPr>
            <p:spPr>
              <a:xfrm flipH="false" flipV="false" rot="0">
                <a:off x="2597676" y="1896869"/>
                <a:ext cx="1110732" cy="751839"/>
              </a:xfrm>
              <a:custGeom>
                <a:avLst/>
                <a:gdLst/>
                <a:ahLst/>
                <a:cxnLst/>
                <a:rect r="r" b="b" t="t" l="l"/>
                <a:pathLst>
                  <a:path h="751839" w="1110732">
                    <a:moveTo>
                      <a:pt x="0" y="751839"/>
                    </a:moveTo>
                    <a:lnTo>
                      <a:pt x="1110732" y="751839"/>
                    </a:lnTo>
                    <a:lnTo>
                      <a:pt x="1110732" y="0"/>
                    </a:lnTo>
                    <a:lnTo>
                      <a:pt x="0" y="0"/>
                    </a:lnTo>
                    <a:close/>
                  </a:path>
                </a:pathLst>
              </a:custGeom>
              <a:solidFill>
                <a:srgbClr val="000000">
                  <a:alpha val="0"/>
                </a:srgbClr>
              </a:solidFill>
            </p:spPr>
          </p:sp>
          <p:sp>
            <p:nvSpPr>
              <p:cNvPr name="Freeform 60" id="60"/>
              <p:cNvSpPr/>
              <p:nvPr/>
            </p:nvSpPr>
            <p:spPr>
              <a:xfrm flipH="false" flipV="false" rot="0">
                <a:off x="2613925" y="3015103"/>
                <a:ext cx="1094483" cy="605662"/>
              </a:xfrm>
              <a:custGeom>
                <a:avLst/>
                <a:gdLst/>
                <a:ahLst/>
                <a:cxnLst/>
                <a:rect r="r" b="b" t="t" l="l"/>
                <a:pathLst>
                  <a:path h="605662" w="1094483">
                    <a:moveTo>
                      <a:pt x="0" y="605662"/>
                    </a:moveTo>
                    <a:lnTo>
                      <a:pt x="1094483" y="605662"/>
                    </a:lnTo>
                    <a:lnTo>
                      <a:pt x="1094483" y="0"/>
                    </a:lnTo>
                    <a:lnTo>
                      <a:pt x="0" y="0"/>
                    </a:lnTo>
                    <a:close/>
                  </a:path>
                </a:pathLst>
              </a:custGeom>
              <a:solidFill>
                <a:srgbClr val="000000">
                  <a:alpha val="0"/>
                </a:srgbClr>
              </a:solidFill>
            </p:spPr>
          </p:sp>
          <p:sp>
            <p:nvSpPr>
              <p:cNvPr name="Freeform 61" id="61"/>
              <p:cNvSpPr/>
              <p:nvPr/>
            </p:nvSpPr>
            <p:spPr>
              <a:xfrm flipH="false" flipV="false" rot="0">
                <a:off x="655065" y="1910840"/>
                <a:ext cx="2158533" cy="1695702"/>
              </a:xfrm>
              <a:custGeom>
                <a:avLst/>
                <a:gdLst/>
                <a:ahLst/>
                <a:cxnLst/>
                <a:rect r="r" b="b" t="t" l="l"/>
                <a:pathLst>
                  <a:path h="1695702" w="2158533">
                    <a:moveTo>
                      <a:pt x="0" y="1695701"/>
                    </a:moveTo>
                    <a:lnTo>
                      <a:pt x="2158533" y="1695701"/>
                    </a:lnTo>
                    <a:lnTo>
                      <a:pt x="2158533" y="0"/>
                    </a:lnTo>
                    <a:lnTo>
                      <a:pt x="0" y="0"/>
                    </a:lnTo>
                    <a:close/>
                  </a:path>
                </a:pathLst>
              </a:custGeom>
              <a:solidFill>
                <a:srgbClr val="000000">
                  <a:alpha val="0"/>
                </a:srgbClr>
              </a:solidFill>
            </p:spPr>
          </p:sp>
        </p:gr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716523" y="599257"/>
            <a:ext cx="17356998" cy="9458004"/>
            <a:chOff x="0" y="0"/>
            <a:chExt cx="23142664" cy="12610673"/>
          </a:xfrm>
        </p:grpSpPr>
        <p:sp>
          <p:nvSpPr>
            <p:cNvPr name="Freeform 3" id="3"/>
            <p:cNvSpPr/>
            <p:nvPr/>
          </p:nvSpPr>
          <p:spPr>
            <a:xfrm flipH="false" flipV="false" rot="0">
              <a:off x="12872446" y="373490"/>
              <a:ext cx="9408709" cy="11371002"/>
            </a:xfrm>
            <a:custGeom>
              <a:avLst/>
              <a:gdLst/>
              <a:ahLst/>
              <a:cxnLst/>
              <a:rect r="r" b="b" t="t" l="l"/>
              <a:pathLst>
                <a:path h="11371002" w="9408709">
                  <a:moveTo>
                    <a:pt x="0" y="0"/>
                  </a:moveTo>
                  <a:lnTo>
                    <a:pt x="9408709" y="0"/>
                  </a:lnTo>
                  <a:lnTo>
                    <a:pt x="9408709" y="11371002"/>
                  </a:lnTo>
                  <a:lnTo>
                    <a:pt x="0" y="11371002"/>
                  </a:lnTo>
                  <a:lnTo>
                    <a:pt x="0" y="0"/>
                  </a:lnTo>
                  <a:close/>
                </a:path>
              </a:pathLst>
            </a:custGeom>
            <a:blipFill>
              <a:blip r:embed="rId2"/>
              <a:stretch>
                <a:fillRect l="-6342" t="-27670" r="-35884" b="-24331"/>
              </a:stretch>
            </a:blipFill>
          </p:spPr>
        </p:sp>
        <p:sp>
          <p:nvSpPr>
            <p:cNvPr name="TextBox 4" id="4"/>
            <p:cNvSpPr txBox="true"/>
            <p:nvPr/>
          </p:nvSpPr>
          <p:spPr>
            <a:xfrm rot="0">
              <a:off x="0" y="1154889"/>
              <a:ext cx="11986730" cy="10390502"/>
            </a:xfrm>
            <a:prstGeom prst="rect">
              <a:avLst/>
            </a:prstGeom>
          </p:spPr>
          <p:txBody>
            <a:bodyPr anchor="t" rtlCol="false" tIns="0" lIns="0" bIns="0" rIns="0">
              <a:spAutoFit/>
            </a:bodyPr>
            <a:lstStyle/>
            <a:p>
              <a:pPr algn="l"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In</a:t>
              </a:r>
              <a:r>
                <a:rPr lang="en-US" sz="3671" spc="146">
                  <a:solidFill>
                    <a:srgbClr val="000000"/>
                  </a:solidFill>
                  <a:latin typeface="Didact Gothic"/>
                  <a:ea typeface="Didact Gothic"/>
                  <a:cs typeface="Didact Gothic"/>
                  <a:sym typeface="Didact Gothic"/>
                </a:rPr>
                <a:t>itializes communication with GSM module</a:t>
              </a:r>
            </a:p>
            <a:p>
              <a:pPr algn="l"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Sets sensor pins as input and buzzer as output</a:t>
              </a:r>
            </a:p>
            <a:p>
              <a:pPr algn="l" marL="792733" indent="-396366" lvl="1">
                <a:lnSpc>
                  <a:spcPts val="5139"/>
                </a:lnSpc>
                <a:buFont typeface="Arial"/>
                <a:buChar char="•"/>
              </a:pPr>
              <a:r>
                <a:rPr lang="en-US" sz="3671" spc="146">
                  <a:solidFill>
                    <a:srgbClr val="000000"/>
                  </a:solidFill>
                  <a:latin typeface="Didact Gothic"/>
                  <a:ea typeface="Didact Gothic"/>
                  <a:cs typeface="Didact Gothic"/>
                  <a:sym typeface="Didact Gothic"/>
                </a:rPr>
                <a:t>Reads flame and smoke sensor values</a:t>
              </a:r>
            </a:p>
            <a:p>
              <a:pPr algn="l"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Checks for fire or smoke condition</a:t>
              </a:r>
            </a:p>
            <a:p>
              <a:pPr algn="l"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Activates buzzer when danger is detected</a:t>
              </a:r>
            </a:p>
            <a:p>
              <a:pPr algn="l"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Sends alert message using GSM module</a:t>
              </a:r>
            </a:p>
            <a:p>
              <a:pPr algn="l"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Repeats process continuously in loop</a:t>
              </a:r>
            </a:p>
            <a:p>
              <a:pPr algn="l">
                <a:lnSpc>
                  <a:spcPts val="6052"/>
                </a:lnSpc>
              </a:pPr>
            </a:p>
          </p:txBody>
        </p:sp>
        <p:sp>
          <p:nvSpPr>
            <p:cNvPr name="TextBox 5" id="5"/>
            <p:cNvSpPr txBox="true"/>
            <p:nvPr/>
          </p:nvSpPr>
          <p:spPr>
            <a:xfrm rot="0">
              <a:off x="619435" y="-95250"/>
              <a:ext cx="9623501" cy="1107017"/>
            </a:xfrm>
            <a:prstGeom prst="rect">
              <a:avLst/>
            </a:prstGeom>
          </p:spPr>
          <p:txBody>
            <a:bodyPr anchor="t" rtlCol="false" tIns="0" lIns="0" bIns="0" rIns="0">
              <a:spAutoFit/>
            </a:bodyPr>
            <a:lstStyle/>
            <a:p>
              <a:pPr algn="l">
                <a:lnSpc>
                  <a:spcPts val="7000"/>
                </a:lnSpc>
              </a:pPr>
              <a:r>
                <a:rPr lang="en-US" b="true" sz="4999" spc="-125" u="sng">
                  <a:solidFill>
                    <a:srgbClr val="000000"/>
                  </a:solidFill>
                  <a:latin typeface="Cardo Bold"/>
                  <a:ea typeface="Cardo Bold"/>
                  <a:cs typeface="Cardo Bold"/>
                  <a:sym typeface="Cardo Bold"/>
                </a:rPr>
                <a:t>CODE</a:t>
              </a:r>
            </a:p>
          </p:txBody>
        </p:sp>
        <p:sp>
          <p:nvSpPr>
            <p:cNvPr name="TextBox 6" id="6"/>
            <p:cNvSpPr txBox="true"/>
            <p:nvPr/>
          </p:nvSpPr>
          <p:spPr>
            <a:xfrm rot="0">
              <a:off x="6879081" y="10646333"/>
              <a:ext cx="11986730" cy="899058"/>
            </a:xfrm>
            <a:prstGeom prst="rect">
              <a:avLst/>
            </a:prstGeom>
          </p:spPr>
          <p:txBody>
            <a:bodyPr anchor="t" rtlCol="false" tIns="0" lIns="0" bIns="0" rIns="0">
              <a:spAutoFit/>
            </a:bodyPr>
            <a:lstStyle/>
            <a:p>
              <a:pPr algn="l">
                <a:lnSpc>
                  <a:spcPts val="6052"/>
                </a:lnSpc>
              </a:pPr>
              <a:r>
                <a:rPr lang="en-US" sz="3671" spc="146" u="sng">
                  <a:solidFill>
                    <a:srgbClr val="5170FF"/>
                  </a:solidFill>
                  <a:latin typeface="Didact Gothic"/>
                  <a:ea typeface="Didact Gothic"/>
                  <a:cs typeface="Didact Gothic"/>
                  <a:sym typeface="Didact Gothic"/>
                  <a:hlinkClick r:id="rId3" tooltip="https://drive.google.com/drive/folders/1fdeUivhWPnXFRrtfRbHVuol1A4JwPNR_"/>
                </a:rPr>
                <a:t>Detailed code</a:t>
              </a:r>
            </a:p>
          </p:txBody>
        </p:sp>
        <p:sp>
          <p:nvSpPr>
            <p:cNvPr name="TextBox 7" id="7"/>
            <p:cNvSpPr txBox="true"/>
            <p:nvPr/>
          </p:nvSpPr>
          <p:spPr>
            <a:xfrm rot="0">
              <a:off x="22923872" y="12277655"/>
              <a:ext cx="218792" cy="333018"/>
            </a:xfrm>
            <a:prstGeom prst="rect">
              <a:avLst/>
            </a:prstGeom>
          </p:spPr>
          <p:txBody>
            <a:bodyPr anchor="t" rtlCol="false" tIns="0" lIns="0" bIns="0" rIns="0">
              <a:spAutoFit/>
            </a:bodyPr>
            <a:lstStyle/>
            <a:p>
              <a:pPr algn="ctr">
                <a:lnSpc>
                  <a:spcPts val="2114"/>
                </a:lnSpc>
              </a:pPr>
              <a:r>
                <a:rPr lang="en-US" sz="1510">
                  <a:solidFill>
                    <a:srgbClr val="000000"/>
                  </a:solidFill>
                  <a:latin typeface="Canva Sans"/>
                  <a:ea typeface="Canva Sans"/>
                  <a:cs typeface="Canva Sans"/>
                  <a:sym typeface="Canva Sans"/>
                </a:rPr>
                <a:t>9</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1004118" y="795902"/>
            <a:ext cx="16877056" cy="9192532"/>
            <a:chOff x="0" y="0"/>
            <a:chExt cx="22502741" cy="12256710"/>
          </a:xfrm>
        </p:grpSpPr>
        <p:sp>
          <p:nvSpPr>
            <p:cNvPr name="TextBox 3" id="3"/>
            <p:cNvSpPr txBox="true"/>
            <p:nvPr/>
          </p:nvSpPr>
          <p:spPr>
            <a:xfrm rot="0">
              <a:off x="0" y="-95250"/>
              <a:ext cx="9623501" cy="1107017"/>
            </a:xfrm>
            <a:prstGeom prst="rect">
              <a:avLst/>
            </a:prstGeom>
          </p:spPr>
          <p:txBody>
            <a:bodyPr anchor="t" rtlCol="false" tIns="0" lIns="0" bIns="0" rIns="0">
              <a:spAutoFit/>
            </a:bodyPr>
            <a:lstStyle/>
            <a:p>
              <a:pPr algn="l">
                <a:lnSpc>
                  <a:spcPts val="7000"/>
                </a:lnSpc>
              </a:pPr>
              <a:r>
                <a:rPr lang="en-US" b="true" sz="4999" spc="-125" u="sng">
                  <a:solidFill>
                    <a:srgbClr val="000000"/>
                  </a:solidFill>
                  <a:latin typeface="Cardo Bold"/>
                  <a:ea typeface="Cardo Bold"/>
                  <a:cs typeface="Cardo Bold"/>
                  <a:sym typeface="Cardo Bold"/>
                </a:rPr>
                <a:t>TESTING PROCEDURE</a:t>
              </a:r>
            </a:p>
          </p:txBody>
        </p:sp>
        <p:sp>
          <p:nvSpPr>
            <p:cNvPr name="TextBox 4" id="4"/>
            <p:cNvSpPr txBox="true"/>
            <p:nvPr/>
          </p:nvSpPr>
          <p:spPr>
            <a:xfrm rot="0">
              <a:off x="0" y="1510697"/>
              <a:ext cx="21101278" cy="9526902"/>
            </a:xfrm>
            <a:prstGeom prst="rect">
              <a:avLst/>
            </a:prstGeom>
          </p:spPr>
          <p:txBody>
            <a:bodyPr anchor="t" rtlCol="false" tIns="0" lIns="0" bIns="0" rIns="0">
              <a:spAutoFit/>
            </a:bodyPr>
            <a:lstStyle/>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C</a:t>
              </a:r>
              <a:r>
                <a:rPr lang="en-US" sz="3671" spc="146">
                  <a:solidFill>
                    <a:srgbClr val="000000"/>
                  </a:solidFill>
                  <a:latin typeface="Didact Gothic"/>
                  <a:ea typeface="Didact Gothic"/>
                  <a:cs typeface="Didact Gothic"/>
                  <a:sym typeface="Didact Gothic"/>
                </a:rPr>
                <a:t>ircuit connections verified before power ON</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Power supply and GSM module checked</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SIM inserted and network confirmed</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GSM initialization verified via serial monitor</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MQ2 Smoke Sensor tested with smoke</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Flame Sensor tested with flame</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Buzzer and GSM alerts verified for detection</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SMS and call functionality confirmed</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Alert flag checked to avoid repetition</a:t>
              </a:r>
            </a:p>
            <a:p>
              <a:pPr algn="just" marL="792733" indent="-396366" lvl="1">
                <a:lnSpc>
                  <a:spcPts val="5136"/>
                </a:lnSpc>
                <a:buFont typeface="Arial"/>
                <a:buChar char="•"/>
              </a:pPr>
              <a:r>
                <a:rPr lang="en-US" sz="3671" spc="146">
                  <a:solidFill>
                    <a:srgbClr val="000000"/>
                  </a:solidFill>
                  <a:latin typeface="Didact Gothic"/>
                  <a:ea typeface="Didact Gothic"/>
                  <a:cs typeface="Didact Gothic"/>
                  <a:sym typeface="Didact Gothic"/>
                </a:rPr>
                <a:t>System reset and continuous monitoring tested</a:t>
              </a:r>
            </a:p>
            <a:p>
              <a:pPr algn="just">
                <a:lnSpc>
                  <a:spcPts val="6052"/>
                </a:lnSpc>
              </a:pPr>
            </a:p>
          </p:txBody>
        </p:sp>
        <p:sp>
          <p:nvSpPr>
            <p:cNvPr name="TextBox 5" id="5"/>
            <p:cNvSpPr txBox="true"/>
            <p:nvPr/>
          </p:nvSpPr>
          <p:spPr>
            <a:xfrm rot="0">
              <a:off x="22082393" y="11923691"/>
              <a:ext cx="420348" cy="333018"/>
            </a:xfrm>
            <a:prstGeom prst="rect">
              <a:avLst/>
            </a:prstGeom>
          </p:spPr>
          <p:txBody>
            <a:bodyPr anchor="t" rtlCol="false" tIns="0" lIns="0" bIns="0" rIns="0">
              <a:spAutoFit/>
            </a:bodyPr>
            <a:lstStyle/>
            <a:p>
              <a:pPr algn="ctr">
                <a:lnSpc>
                  <a:spcPts val="2114"/>
                </a:lnSpc>
              </a:pPr>
              <a:r>
                <a:rPr lang="en-US" sz="1510">
                  <a:solidFill>
                    <a:srgbClr val="000000"/>
                  </a:solidFill>
                  <a:latin typeface="Canva Sans"/>
                  <a:ea typeface="Canva Sans"/>
                  <a:cs typeface="Canva Sans"/>
                  <a:sym typeface="Canva Sans"/>
                </a:rPr>
                <a:t>10</a:t>
              </a:r>
            </a:p>
          </p:txBody>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1028700" y="829596"/>
            <a:ext cx="16784046" cy="9156379"/>
            <a:chOff x="0" y="0"/>
            <a:chExt cx="22378728" cy="12208506"/>
          </a:xfrm>
        </p:grpSpPr>
        <p:sp>
          <p:nvSpPr>
            <p:cNvPr name="TextBox 3" id="3"/>
            <p:cNvSpPr txBox="true"/>
            <p:nvPr/>
          </p:nvSpPr>
          <p:spPr>
            <a:xfrm rot="0">
              <a:off x="0" y="-95250"/>
              <a:ext cx="9623501" cy="1107017"/>
            </a:xfrm>
            <a:prstGeom prst="rect">
              <a:avLst/>
            </a:prstGeom>
          </p:spPr>
          <p:txBody>
            <a:bodyPr anchor="t" rtlCol="false" tIns="0" lIns="0" bIns="0" rIns="0">
              <a:spAutoFit/>
            </a:bodyPr>
            <a:lstStyle/>
            <a:p>
              <a:pPr algn="l">
                <a:lnSpc>
                  <a:spcPts val="7000"/>
                </a:lnSpc>
              </a:pPr>
              <a:r>
                <a:rPr lang="en-US" b="true" sz="4999" spc="-125" u="sng">
                  <a:solidFill>
                    <a:srgbClr val="000000"/>
                  </a:solidFill>
                  <a:latin typeface="Cardo Bold"/>
                  <a:ea typeface="Cardo Bold"/>
                  <a:cs typeface="Cardo Bold"/>
                  <a:sym typeface="Cardo Bold"/>
                </a:rPr>
                <a:t>APPLICATIONS</a:t>
              </a:r>
            </a:p>
          </p:txBody>
        </p:sp>
        <p:sp>
          <p:nvSpPr>
            <p:cNvPr name="TextBox 4" id="4"/>
            <p:cNvSpPr txBox="true"/>
            <p:nvPr/>
          </p:nvSpPr>
          <p:spPr>
            <a:xfrm rot="0">
              <a:off x="0" y="2229414"/>
              <a:ext cx="21101278" cy="7344238"/>
            </a:xfrm>
            <a:prstGeom prst="rect">
              <a:avLst/>
            </a:prstGeom>
          </p:spPr>
          <p:txBody>
            <a:bodyPr anchor="t" rtlCol="false" tIns="0" lIns="0" bIns="0" rIns="0">
              <a:spAutoFit/>
            </a:bodyPr>
            <a:lstStyle/>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F</a:t>
              </a:r>
              <a:r>
                <a:rPr lang="en-US" sz="3871" spc="154">
                  <a:solidFill>
                    <a:srgbClr val="000000"/>
                  </a:solidFill>
                  <a:latin typeface="Didact Gothic"/>
                  <a:ea typeface="Didact Gothic"/>
                  <a:cs typeface="Didact Gothic"/>
                  <a:sym typeface="Didact Gothic"/>
                </a:rPr>
                <a:t>ire detection in homes and residential buildings</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Safety monitoring in offices and commercial spaces</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Industrial fire and smoke detection systems</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Laboratories and research centers</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Warehouses storing flammable materials</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Server rooms and electrical control panels</a:t>
              </a:r>
            </a:p>
            <a:p>
              <a:pPr algn="just" marL="835912" indent="-417956" lvl="1">
                <a:lnSpc>
                  <a:spcPts val="5416"/>
                </a:lnSpc>
                <a:buFont typeface="Arial"/>
                <a:buChar char="•"/>
              </a:pPr>
              <a:r>
                <a:rPr lang="en-US" sz="3871" spc="154">
                  <a:solidFill>
                    <a:srgbClr val="000000"/>
                  </a:solidFill>
                  <a:latin typeface="Didact Gothic"/>
                  <a:ea typeface="Didact Gothic"/>
                  <a:cs typeface="Didact Gothic"/>
                  <a:sym typeface="Didact Gothic"/>
                </a:rPr>
                <a:t>Schoo</a:t>
              </a:r>
              <a:r>
                <a:rPr lang="en-US" sz="3871" spc="154">
                  <a:solidFill>
                    <a:srgbClr val="000000"/>
                  </a:solidFill>
                  <a:latin typeface="Didact Gothic"/>
                  <a:ea typeface="Didact Gothic"/>
                  <a:cs typeface="Didact Gothic"/>
                  <a:sym typeface="Didact Gothic"/>
                </a:rPr>
                <a:t>ls and educational institutions</a:t>
              </a:r>
            </a:p>
            <a:p>
              <a:pPr algn="l" marL="835912" indent="-417956" lvl="1">
                <a:lnSpc>
                  <a:spcPts val="6382"/>
                </a:lnSpc>
                <a:buFont typeface="Arial"/>
                <a:buChar char="•"/>
              </a:pPr>
              <a:r>
                <a:rPr lang="en-US" sz="3871" spc="154">
                  <a:solidFill>
                    <a:srgbClr val="000000"/>
                  </a:solidFill>
                  <a:latin typeface="Didact Gothic"/>
                  <a:ea typeface="Didact Gothic"/>
                  <a:cs typeface="Didact Gothic"/>
                  <a:sym typeface="Didact Gothic"/>
                </a:rPr>
                <a:t>Ki</a:t>
              </a:r>
              <a:r>
                <a:rPr lang="en-US" sz="3871" spc="154">
                  <a:solidFill>
                    <a:srgbClr val="000000"/>
                  </a:solidFill>
                  <a:latin typeface="Didact Gothic"/>
                  <a:ea typeface="Didact Gothic"/>
                  <a:cs typeface="Didact Gothic"/>
                  <a:sym typeface="Didact Gothic"/>
                </a:rPr>
                <a:t>tchen safety monitoring systems</a:t>
              </a:r>
            </a:p>
          </p:txBody>
        </p:sp>
        <p:sp>
          <p:nvSpPr>
            <p:cNvPr name="TextBox 5" id="5"/>
            <p:cNvSpPr txBox="true"/>
            <p:nvPr/>
          </p:nvSpPr>
          <p:spPr>
            <a:xfrm rot="0">
              <a:off x="22016310" y="11875488"/>
              <a:ext cx="362419" cy="333018"/>
            </a:xfrm>
            <a:prstGeom prst="rect">
              <a:avLst/>
            </a:prstGeom>
          </p:spPr>
          <p:txBody>
            <a:bodyPr anchor="t" rtlCol="false" tIns="0" lIns="0" bIns="0" rIns="0">
              <a:spAutoFit/>
            </a:bodyPr>
            <a:lstStyle/>
            <a:p>
              <a:pPr algn="ctr">
                <a:lnSpc>
                  <a:spcPts val="2114"/>
                </a:lnSpc>
              </a:pPr>
              <a:r>
                <a:rPr lang="en-US" sz="1510">
                  <a:solidFill>
                    <a:srgbClr val="000000"/>
                  </a:solidFill>
                  <a:latin typeface="Canva Sans"/>
                  <a:ea typeface="Canva Sans"/>
                  <a:cs typeface="Canva Sans"/>
                  <a:sym typeface="Canva Sans"/>
                </a:rPr>
                <a:t>11</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EEDDB"/>
        </a:solidFill>
      </p:bgPr>
    </p:bg>
    <p:spTree>
      <p:nvGrpSpPr>
        <p:cNvPr id="1" name=""/>
        <p:cNvGrpSpPr/>
        <p:nvPr/>
      </p:nvGrpSpPr>
      <p:grpSpPr>
        <a:xfrm>
          <a:off x="0" y="0"/>
          <a:ext cx="0" cy="0"/>
          <a:chOff x="0" y="0"/>
          <a:chExt cx="0" cy="0"/>
        </a:xfrm>
      </p:grpSpPr>
      <p:grpSp>
        <p:nvGrpSpPr>
          <p:cNvPr name="Group 2" id="2"/>
          <p:cNvGrpSpPr/>
          <p:nvPr/>
        </p:nvGrpSpPr>
        <p:grpSpPr>
          <a:xfrm rot="0">
            <a:off x="1028700" y="649288"/>
            <a:ext cx="16772195" cy="9262227"/>
            <a:chOff x="0" y="0"/>
            <a:chExt cx="22362927" cy="12349636"/>
          </a:xfrm>
        </p:grpSpPr>
        <p:sp>
          <p:nvSpPr>
            <p:cNvPr name="TextBox 3" id="3"/>
            <p:cNvSpPr txBox="true"/>
            <p:nvPr/>
          </p:nvSpPr>
          <p:spPr>
            <a:xfrm rot="0">
              <a:off x="0" y="-95250"/>
              <a:ext cx="9623501" cy="1107017"/>
            </a:xfrm>
            <a:prstGeom prst="rect">
              <a:avLst/>
            </a:prstGeom>
          </p:spPr>
          <p:txBody>
            <a:bodyPr anchor="t" rtlCol="false" tIns="0" lIns="0" bIns="0" rIns="0">
              <a:spAutoFit/>
            </a:bodyPr>
            <a:lstStyle/>
            <a:p>
              <a:pPr algn="l">
                <a:lnSpc>
                  <a:spcPts val="7000"/>
                </a:lnSpc>
              </a:pPr>
              <a:r>
                <a:rPr lang="en-US" b="true" sz="4999" spc="-125" u="sng">
                  <a:solidFill>
                    <a:srgbClr val="000000"/>
                  </a:solidFill>
                  <a:latin typeface="Cardo Bold"/>
                  <a:ea typeface="Cardo Bold"/>
                  <a:cs typeface="Cardo Bold"/>
                  <a:sym typeface="Cardo Bold"/>
                </a:rPr>
                <a:t>CONCLUSION</a:t>
              </a:r>
            </a:p>
          </p:txBody>
        </p:sp>
        <p:sp>
          <p:nvSpPr>
            <p:cNvPr name="TextBox 4" id="4"/>
            <p:cNvSpPr txBox="true"/>
            <p:nvPr/>
          </p:nvSpPr>
          <p:spPr>
            <a:xfrm rot="0">
              <a:off x="0" y="2212755"/>
              <a:ext cx="21101278" cy="7408839"/>
            </a:xfrm>
            <a:prstGeom prst="rect">
              <a:avLst/>
            </a:prstGeom>
          </p:spPr>
          <p:txBody>
            <a:bodyPr anchor="t" rtlCol="false" tIns="0" lIns="0" bIns="0" rIns="0">
              <a:spAutoFit/>
            </a:bodyPr>
            <a:lstStyle/>
            <a:p>
              <a:pPr algn="just">
                <a:lnSpc>
                  <a:spcPts val="5419"/>
                </a:lnSpc>
              </a:pPr>
              <a:r>
                <a:rPr lang="en-US" sz="3871" spc="154">
                  <a:solidFill>
                    <a:srgbClr val="000000"/>
                  </a:solidFill>
                  <a:latin typeface="Didact Gothic"/>
                  <a:ea typeface="Didact Gothic"/>
                  <a:cs typeface="Didact Gothic"/>
                  <a:sym typeface="Didact Gothic"/>
                </a:rPr>
                <a:t>Th</a:t>
              </a:r>
              <a:r>
                <a:rPr lang="en-US" sz="3871" spc="154">
                  <a:solidFill>
                    <a:srgbClr val="000000"/>
                  </a:solidFill>
                  <a:latin typeface="Didact Gothic"/>
                  <a:ea typeface="Didact Gothic"/>
                  <a:cs typeface="Didact Gothic"/>
                  <a:sym typeface="Didact Gothic"/>
                </a:rPr>
                <a:t>e fire and smoke detection system was successfully implemented using an Arduino Uno, along with an MQ2 Smoke Sensor and a Flame Sensor for accurate detection. The SIM900A GSM Module enabled real-time SMS and call alerts, while the buzzer provided immediate local warning. The system operates continuously, offering a low-cost, reliable, and easy-to-implement solution that helps in early fire detection and reduces potential hazards.</a:t>
              </a:r>
            </a:p>
            <a:p>
              <a:pPr algn="just">
                <a:lnSpc>
                  <a:spcPts val="6877"/>
                </a:lnSpc>
              </a:pPr>
            </a:p>
          </p:txBody>
        </p:sp>
        <p:sp>
          <p:nvSpPr>
            <p:cNvPr name="TextBox 5" id="5"/>
            <p:cNvSpPr txBox="true"/>
            <p:nvPr/>
          </p:nvSpPr>
          <p:spPr>
            <a:xfrm rot="0">
              <a:off x="21994763" y="12016618"/>
              <a:ext cx="368164" cy="333018"/>
            </a:xfrm>
            <a:prstGeom prst="rect">
              <a:avLst/>
            </a:prstGeom>
          </p:spPr>
          <p:txBody>
            <a:bodyPr anchor="t" rtlCol="false" tIns="0" lIns="0" bIns="0" rIns="0">
              <a:spAutoFit/>
            </a:bodyPr>
            <a:lstStyle/>
            <a:p>
              <a:pPr algn="ctr">
                <a:lnSpc>
                  <a:spcPts val="2114"/>
                </a:lnSpc>
              </a:pPr>
              <a:r>
                <a:rPr lang="en-US" sz="1510">
                  <a:solidFill>
                    <a:srgbClr val="000000"/>
                  </a:solidFill>
                  <a:latin typeface="Canva Sans"/>
                  <a:ea typeface="Canva Sans"/>
                  <a:cs typeface="Canva Sans"/>
                  <a:sym typeface="Canva Sans"/>
                </a:rPr>
                <a:t>12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DAHE9uccCpY</dc:identifier>
  <dcterms:modified xsi:type="dcterms:W3CDTF">2011-08-01T06:04:30Z</dcterms:modified>
  <cp:revision>1</cp:revision>
  <dc:title>mc prooo.pptx</dc:title>
</cp:coreProperties>
</file>